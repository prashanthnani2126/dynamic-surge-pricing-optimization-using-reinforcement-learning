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6420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One line: 'This project learns a surge-pricing strategy for ride-sharing using reinforcement learning, with a genetic algorithm as a second method.' ~10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Surge pricing trades revenue against rider retention, but is usually governed by hand-tuned rules. We instead learn the policy against an explicit objective, balancing revenue and goodwill, and we solve it two ways to cross-check. ~35s.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and the key challenge. Only Lyft carries surge variation, so we use the Lyft subset. Crucially, surge in the data is triggered BY demand, so regressing demand on price gives the curve backwards — endogeneity. We avoid it by imposing a cited demand-elasticity model and using the data only for baseline demand and fares. This is the most important methodological point. ~40s.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Formulation. An episode is repeated pricing in one market condition over six windows. State is demand, weather, product and a goodwill level; action is the surge multiplier; reward is revenue minus a small dissatisfaction penalty. Demand decays exponentially with surge, and crucially the optimal surge differs by regime — low demand wants ~1.0, high-demand rain wants ~2.5. Goodwill couples the windows, making it a genuine sequential problem. ~45s.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methods. The reinforcement learner is tabular Q-learning — it bootstraps off every step and exploits the MDP structure. The genetic algorithm is a black box — it evolves a whole policy and sees only the total return, no Bellman assumption. Both optimise the same fitness over the same policy space, so any difference is down to the search method. ~35s.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RL results. Three convergence signals — return rising, TD error and policy churn falling to zero. The heatmap shows what it learned: surge increases with demand and eases off as goodwill depletes. It discovered a pulsing strategy — surge while goodwill is fresh, rest to recover — entirely from reward. ~35s.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 results. The genetic algorithm reaches 99% of its final fitness within about 27 generations and converges to the oracle ceiling. It independently discovers the same pulsing structure as Q-learning — two very different methods agreeing is strong evidence the structure is real, not an artefact. ~30s.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Both learners beat all three simple baselines — fixed, always-max, and a rule-based heuristic. Q-learning lifts revenue 9.6% over flat pricing; the GA reaches 10%, matching the oracle ceiling. A paired test confirms the gains are statistically significant. ~30s.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Robustness. Because elasticity is an assumption, we scale the true value by plus or minus 20%. Both learned policies still beat fixed pricing across the whole range and track the oracle. A held-out test shows near-identical performance on unseen markets — a 0.1-point gap — so it isn't overfit. The conclusion doesn't depend on getting the elasticity exactly right. ~35s.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We formulated surge pricing as an MDP, carefully avoiding the endogeneity trap, and solved it two independent ways. Both learn a goodwill-aware pulsing policy that raises revenue about 10% over flat pricing, is statistically significant, matches the oracle, and stays robust under mis-specified elasticity and on unseen markets. Thank you. ~30s.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4" name="Text 2"/>
          <p:cNvSpPr/>
          <p:nvPr/>
        </p:nvSpPr>
        <p:spPr>
          <a:xfrm>
            <a:off x="731520" y="2011680"/>
            <a:ext cx="10058400" cy="91440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Dynamic Pricing for Ride-Sharing</a:t>
            </a:r>
            <a:endParaRPr lang="en-US" sz="4400" dirty="0"/>
          </a:p>
        </p:txBody>
      </p:sp>
      <p:sp>
        <p:nvSpPr>
          <p:cNvPr id="5" name="Text 3"/>
          <p:cNvSpPr/>
          <p:nvPr/>
        </p:nvSpPr>
        <p:spPr>
          <a:xfrm>
            <a:off x="731520" y="2971800"/>
            <a:ext cx="10058400" cy="548640"/>
          </a:xfrm>
          <a:prstGeom prst="rect">
            <a:avLst/>
          </a:prstGeom>
          <a:noFill/>
          <a:ln/>
        </p:spPr>
        <p:txBody>
          <a:bodyPr wrap="square" rtlCol="0" anchor="ctr"/>
          <a:lstStyle/>
          <a:p>
            <a:pPr marL="0" indent="0">
              <a:buNone/>
            </a:pPr>
            <a:r>
              <a:rPr lang="en-US" sz="2200" dirty="0">
                <a:solidFill>
                  <a:srgbClr val="CADCFC"/>
                </a:solidFill>
                <a:latin typeface="Calibri" pitchFamily="34" charset="0"/>
                <a:ea typeface="Calibri" pitchFamily="34" charset="-122"/>
                <a:cs typeface="Calibri" pitchFamily="34" charset="-120"/>
              </a:rPr>
              <a:t>A Reinforcement Learning &amp; Evolutionary Approach</a:t>
            </a:r>
            <a:endParaRPr lang="en-US" sz="2200" dirty="0"/>
          </a:p>
        </p:txBody>
      </p:sp>
      <p:sp>
        <p:nvSpPr>
          <p:cNvPr id="6" name="Text 4"/>
          <p:cNvSpPr/>
          <p:nvPr/>
        </p:nvSpPr>
        <p:spPr>
          <a:xfrm>
            <a:off x="731520" y="4937760"/>
            <a:ext cx="10058400" cy="822960"/>
          </a:xfrm>
          <a:prstGeom prst="rect">
            <a:avLst/>
          </a:prstGeom>
          <a:noFill/>
          <a:ln/>
        </p:spPr>
        <p:txBody>
          <a:bodyPr wrap="square" rtlCol="0" anchor="ctr"/>
          <a:lstStyle/>
          <a:p>
            <a:pPr marL="0" indent="0">
              <a:lnSpc>
                <a:spcPct val="130000"/>
              </a:lnSpc>
              <a:buNone/>
            </a:pPr>
            <a:r>
              <a:rPr lang="en-US" sz="1500" dirty="0">
                <a:solidFill>
                  <a:schemeClr val="bg1"/>
                </a:solidFill>
                <a:latin typeface="Calibri" pitchFamily="34" charset="0"/>
                <a:ea typeface="Calibri" pitchFamily="34" charset="-122"/>
                <a:cs typeface="Calibri" pitchFamily="34" charset="-120"/>
              </a:rPr>
              <a:t>AI-Driven Decision Making </a:t>
            </a:r>
          </a:p>
          <a:p>
            <a:pPr marL="0" indent="0">
              <a:lnSpc>
                <a:spcPct val="130000"/>
              </a:lnSpc>
              <a:buNone/>
            </a:pPr>
            <a:r>
              <a:rPr lang="en-US" sz="1500" dirty="0">
                <a:solidFill>
                  <a:schemeClr val="bg1"/>
                </a:solidFill>
              </a:rPr>
              <a:t>Lecturer : </a:t>
            </a:r>
            <a:r>
              <a:rPr lang="en-US" sz="1500" dirty="0" err="1">
                <a:solidFill>
                  <a:schemeClr val="bg1"/>
                </a:solidFill>
              </a:rPr>
              <a:t>Muhammand</a:t>
            </a:r>
            <a:r>
              <a:rPr lang="en-US" sz="1500" dirty="0">
                <a:solidFill>
                  <a:schemeClr val="bg1"/>
                </a:solidFill>
              </a:rPr>
              <a:t>  Asif Razzaq</a:t>
            </a:r>
          </a:p>
          <a:p>
            <a:pPr marL="0" indent="0">
              <a:lnSpc>
                <a:spcPct val="130000"/>
              </a:lnSpc>
              <a:buNone/>
            </a:pPr>
            <a:r>
              <a:rPr lang="en-US" sz="1500" dirty="0">
                <a:solidFill>
                  <a:schemeClr val="bg1"/>
                </a:solidFill>
                <a:latin typeface="Calibri" pitchFamily="34" charset="0"/>
                <a:ea typeface="Calibri" pitchFamily="34" charset="-122"/>
                <a:cs typeface="Calibri" pitchFamily="34" charset="-120"/>
              </a:rPr>
              <a:t>Prasanth oddepally , x25205595@ncirl.ie· MSc Artificial Intelligence, NCI</a:t>
            </a:r>
            <a:endParaRPr lang="en-US" sz="1500" dirty="0">
              <a:solidFill>
                <a:schemeClr val="bg1"/>
              </a:solidFill>
            </a:endParaRPr>
          </a:p>
        </p:txBody>
      </p:sp>
      <p:pic>
        <p:nvPicPr>
          <p:cNvPr id="8" name="Picture 7">
            <a:extLst>
              <a:ext uri="{FF2B5EF4-FFF2-40B4-BE49-F238E27FC236}">
                <a16:creationId xmlns:a16="http://schemas.microsoft.com/office/drawing/2014/main" id="{14ADF114-AC9C-5916-A1E5-163995218124}"/>
              </a:ext>
            </a:extLst>
          </p:cNvPr>
          <p:cNvPicPr>
            <a:picLocks noChangeAspect="1"/>
          </p:cNvPicPr>
          <p:nvPr/>
        </p:nvPicPr>
        <p:blipFill>
          <a:blip r:embed="rId3"/>
          <a:stretch>
            <a:fillRect/>
          </a:stretch>
        </p:blipFill>
        <p:spPr>
          <a:xfrm>
            <a:off x="9628485" y="355874"/>
            <a:ext cx="2075835" cy="148281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ellipse">
            <a:avLst/>
          </a:prstGeom>
          <a:solidFill>
            <a:srgbClr val="E8A33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777240" y="502920"/>
            <a:ext cx="7315200" cy="320040"/>
          </a:xfrm>
          <a:prstGeom prst="rect">
            <a:avLst/>
          </a:prstGeom>
          <a:noFill/>
          <a:ln/>
        </p:spPr>
        <p:txBody>
          <a:bodyPr wrap="square" rtlCol="0" anchor="ctr"/>
          <a:lstStyle/>
          <a:p>
            <a:pPr marL="0" indent="0">
              <a:buNone/>
            </a:pPr>
            <a:r>
              <a:rPr lang="en-US" sz="1300" b="1" kern="0" spc="200" dirty="0">
                <a:solidFill>
                  <a:srgbClr val="1C7293"/>
                </a:solidFill>
                <a:latin typeface="Times New Roman" panose="02020603050405020304" pitchFamily="18" charset="0"/>
                <a:ea typeface="Calibri" pitchFamily="34" charset="-122"/>
                <a:cs typeface="Times New Roman" panose="02020603050405020304" pitchFamily="18" charset="0"/>
              </a:rPr>
              <a:t>THE PROBLEM</a:t>
            </a:r>
            <a:endParaRPr lang="en-US" sz="1300" dirty="0">
              <a:latin typeface="Times New Roman" panose="02020603050405020304" pitchFamily="18" charset="0"/>
              <a:cs typeface="Times New Roman" panose="02020603050405020304" pitchFamily="18" charset="0"/>
            </a:endParaRPr>
          </a:p>
        </p:txBody>
      </p:sp>
      <p:sp>
        <p:nvSpPr>
          <p:cNvPr id="4" name="Text 2"/>
          <p:cNvSpPr/>
          <p:nvPr/>
        </p:nvSpPr>
        <p:spPr>
          <a:xfrm>
            <a:off x="548640" y="822960"/>
            <a:ext cx="11064240" cy="82296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Surge pricing is powerful — and usually hand-tuned</a:t>
            </a:r>
            <a:endParaRPr lang="en-US" sz="3000" dirty="0">
              <a:latin typeface="Times New Roman" panose="02020603050405020304" pitchFamily="18" charset="0"/>
              <a:cs typeface="Times New Roman" panose="02020603050405020304" pitchFamily="18" charset="0"/>
            </a:endParaRPr>
          </a:p>
        </p:txBody>
      </p:sp>
      <p:sp>
        <p:nvSpPr>
          <p:cNvPr id="5" name="Shape 3"/>
          <p:cNvSpPr/>
          <p:nvPr/>
        </p:nvSpPr>
        <p:spPr>
          <a:xfrm>
            <a:off x="548640" y="1965960"/>
            <a:ext cx="6126480" cy="1143000"/>
          </a:xfrm>
          <a:prstGeom prst="roundRect">
            <a:avLst>
              <a:gd name="adj" fmla="val 6400"/>
            </a:avLst>
          </a:prstGeom>
          <a:solidFill>
            <a:srgbClr val="F4F7FB"/>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Shape 4"/>
          <p:cNvSpPr/>
          <p:nvPr/>
        </p:nvSpPr>
        <p:spPr>
          <a:xfrm>
            <a:off x="777240" y="2258568"/>
            <a:ext cx="548640" cy="548640"/>
          </a:xfrm>
          <a:prstGeom prst="ellipse">
            <a:avLst/>
          </a:prstGeom>
          <a:solidFill>
            <a:srgbClr val="1E2761"/>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777240" y="2258568"/>
            <a:ext cx="548640" cy="548640"/>
          </a:xfrm>
          <a:prstGeom prst="rect">
            <a:avLst/>
          </a:prstGeom>
          <a:noFill/>
          <a:ln/>
        </p:spPr>
        <p:txBody>
          <a:bodyPr wrap="square" rtlCol="0" anchor="ctr"/>
          <a:lstStyle/>
          <a:p>
            <a:pPr marL="0" indent="0" algn="ctr">
              <a:buNone/>
            </a:pPr>
            <a:r>
              <a:rPr lang="en-US" sz="2000" b="1" dirty="0">
                <a:solidFill>
                  <a:srgbClr val="FFFFFF"/>
                </a:solidFill>
                <a:latin typeface="Times New Roman" panose="02020603050405020304" pitchFamily="18" charset="0"/>
                <a:ea typeface="Cambria" pitchFamily="34" charset="-122"/>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1554480" y="2112264"/>
            <a:ext cx="4937760" cy="365760"/>
          </a:xfrm>
          <a:prstGeom prst="rect">
            <a:avLst/>
          </a:prstGeom>
          <a:noFill/>
          <a:ln/>
        </p:spPr>
        <p:txBody>
          <a:bodyPr wrap="square" rtlCol="0" anchor="ctr"/>
          <a:lstStyle/>
          <a:p>
            <a:pPr marL="0" indent="0">
              <a:buNone/>
            </a:pPr>
            <a:r>
              <a:rPr lang="en-US" sz="1700" b="1" dirty="0">
                <a:solidFill>
                  <a:srgbClr val="1E2761"/>
                </a:solidFill>
                <a:latin typeface="Times New Roman" panose="02020603050405020304" pitchFamily="18" charset="0"/>
                <a:ea typeface="Calibri" pitchFamily="34" charset="-122"/>
                <a:cs typeface="Times New Roman" panose="02020603050405020304" pitchFamily="18" charset="0"/>
              </a:rPr>
              <a:t>Set too low</a:t>
            </a:r>
            <a:endParaRPr lang="en-US" sz="1700" dirty="0">
              <a:latin typeface="Times New Roman" panose="02020603050405020304" pitchFamily="18" charset="0"/>
              <a:cs typeface="Times New Roman" panose="02020603050405020304" pitchFamily="18" charset="0"/>
            </a:endParaRPr>
          </a:p>
        </p:txBody>
      </p:sp>
      <p:sp>
        <p:nvSpPr>
          <p:cNvPr id="9" name="Text 7"/>
          <p:cNvSpPr/>
          <p:nvPr/>
        </p:nvSpPr>
        <p:spPr>
          <a:xfrm>
            <a:off x="1554480" y="2496312"/>
            <a:ext cx="4937760" cy="502920"/>
          </a:xfrm>
          <a:prstGeom prst="rect">
            <a:avLst/>
          </a:prstGeom>
          <a:noFill/>
          <a:ln/>
        </p:spPr>
        <p:txBody>
          <a:bodyPr wrap="square" rtlCol="0" anchor="ctr"/>
          <a:lstStyle/>
          <a:p>
            <a:pPr marL="0" indent="0">
              <a:buNone/>
            </a:pPr>
            <a:r>
              <a:rPr lang="en-US" sz="1350" dirty="0">
                <a:solidFill>
                  <a:srgbClr val="22303C"/>
                </a:solidFill>
                <a:latin typeface="Times New Roman" panose="02020603050405020304" pitchFamily="18" charset="0"/>
                <a:ea typeface="Calibri" pitchFamily="34" charset="-122"/>
                <a:cs typeface="Times New Roman" panose="02020603050405020304" pitchFamily="18" charset="0"/>
              </a:rPr>
              <a:t>Revenue is left on the table when demand is high.</a:t>
            </a:r>
            <a:endParaRPr lang="en-US" sz="1350" dirty="0">
              <a:latin typeface="Times New Roman" panose="02020603050405020304" pitchFamily="18" charset="0"/>
              <a:cs typeface="Times New Roman" panose="02020603050405020304" pitchFamily="18" charset="0"/>
            </a:endParaRPr>
          </a:p>
        </p:txBody>
      </p:sp>
      <p:sp>
        <p:nvSpPr>
          <p:cNvPr id="10" name="Shape 8"/>
          <p:cNvSpPr/>
          <p:nvPr/>
        </p:nvSpPr>
        <p:spPr>
          <a:xfrm>
            <a:off x="548640" y="3291840"/>
            <a:ext cx="6126480" cy="1143000"/>
          </a:xfrm>
          <a:prstGeom prst="roundRect">
            <a:avLst>
              <a:gd name="adj" fmla="val 6400"/>
            </a:avLst>
          </a:prstGeom>
          <a:solidFill>
            <a:srgbClr val="F4F7FB"/>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1" name="Shape 9"/>
          <p:cNvSpPr/>
          <p:nvPr/>
        </p:nvSpPr>
        <p:spPr>
          <a:xfrm>
            <a:off x="777240" y="3584448"/>
            <a:ext cx="548640" cy="548640"/>
          </a:xfrm>
          <a:prstGeom prst="ellipse">
            <a:avLst/>
          </a:prstGeom>
          <a:solidFill>
            <a:srgbClr val="1E2761"/>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2" name="Text 10"/>
          <p:cNvSpPr/>
          <p:nvPr/>
        </p:nvSpPr>
        <p:spPr>
          <a:xfrm>
            <a:off x="777240" y="3584448"/>
            <a:ext cx="548640" cy="548640"/>
          </a:xfrm>
          <a:prstGeom prst="rect">
            <a:avLst/>
          </a:prstGeom>
          <a:noFill/>
          <a:ln/>
        </p:spPr>
        <p:txBody>
          <a:bodyPr wrap="square" rtlCol="0" anchor="ctr"/>
          <a:lstStyle/>
          <a:p>
            <a:pPr marL="0" indent="0" algn="ctr">
              <a:buNone/>
            </a:pPr>
            <a:r>
              <a:rPr lang="en-US" sz="2000" b="1" dirty="0">
                <a:solidFill>
                  <a:srgbClr val="FFFFFF"/>
                </a:solidFill>
                <a:latin typeface="Times New Roman" panose="02020603050405020304" pitchFamily="18" charset="0"/>
                <a:ea typeface="Cambria" pitchFamily="34" charset="-122"/>
                <a:cs typeface="Times New Roman" panose="02020603050405020304" pitchFamily="18" charset="0"/>
              </a:rPr>
              <a:t>2</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1554480" y="3438144"/>
            <a:ext cx="4937760" cy="365760"/>
          </a:xfrm>
          <a:prstGeom prst="rect">
            <a:avLst/>
          </a:prstGeom>
          <a:noFill/>
          <a:ln/>
        </p:spPr>
        <p:txBody>
          <a:bodyPr wrap="square" rtlCol="0" anchor="ctr"/>
          <a:lstStyle/>
          <a:p>
            <a:pPr marL="0" indent="0">
              <a:buNone/>
            </a:pPr>
            <a:r>
              <a:rPr lang="en-US" sz="1700" b="1" dirty="0">
                <a:solidFill>
                  <a:srgbClr val="1E2761"/>
                </a:solidFill>
                <a:latin typeface="Times New Roman" panose="02020603050405020304" pitchFamily="18" charset="0"/>
                <a:ea typeface="Calibri" pitchFamily="34" charset="-122"/>
                <a:cs typeface="Times New Roman" panose="02020603050405020304" pitchFamily="18" charset="0"/>
              </a:rPr>
              <a:t>Set too high</a:t>
            </a:r>
            <a:endParaRPr lang="en-US" sz="1700" dirty="0">
              <a:latin typeface="Times New Roman" panose="02020603050405020304" pitchFamily="18" charset="0"/>
              <a:cs typeface="Times New Roman" panose="02020603050405020304" pitchFamily="18" charset="0"/>
            </a:endParaRPr>
          </a:p>
        </p:txBody>
      </p:sp>
      <p:sp>
        <p:nvSpPr>
          <p:cNvPr id="14" name="Text 12"/>
          <p:cNvSpPr/>
          <p:nvPr/>
        </p:nvSpPr>
        <p:spPr>
          <a:xfrm>
            <a:off x="1554480" y="3822192"/>
            <a:ext cx="4937760" cy="502920"/>
          </a:xfrm>
          <a:prstGeom prst="rect">
            <a:avLst/>
          </a:prstGeom>
          <a:noFill/>
          <a:ln/>
        </p:spPr>
        <p:txBody>
          <a:bodyPr wrap="square" rtlCol="0" anchor="ctr"/>
          <a:lstStyle/>
          <a:p>
            <a:pPr marL="0" indent="0">
              <a:buNone/>
            </a:pPr>
            <a:r>
              <a:rPr lang="en-US" sz="1350" dirty="0">
                <a:solidFill>
                  <a:srgbClr val="22303C"/>
                </a:solidFill>
                <a:latin typeface="Times New Roman" panose="02020603050405020304" pitchFamily="18" charset="0"/>
                <a:ea typeface="Calibri" pitchFamily="34" charset="-122"/>
                <a:cs typeface="Times New Roman" panose="02020603050405020304" pitchFamily="18" charset="0"/>
              </a:rPr>
              <a:t>Riders churn and long-run demand erodes.</a:t>
            </a:r>
            <a:endParaRPr lang="en-US" sz="1350" dirty="0">
              <a:latin typeface="Times New Roman" panose="02020603050405020304" pitchFamily="18" charset="0"/>
              <a:cs typeface="Times New Roman" panose="02020603050405020304" pitchFamily="18" charset="0"/>
            </a:endParaRPr>
          </a:p>
        </p:txBody>
      </p:sp>
      <p:sp>
        <p:nvSpPr>
          <p:cNvPr id="15" name="Shape 13"/>
          <p:cNvSpPr/>
          <p:nvPr/>
        </p:nvSpPr>
        <p:spPr>
          <a:xfrm>
            <a:off x="548640" y="4617720"/>
            <a:ext cx="6126480" cy="1143000"/>
          </a:xfrm>
          <a:prstGeom prst="roundRect">
            <a:avLst>
              <a:gd name="adj" fmla="val 6400"/>
            </a:avLst>
          </a:prstGeom>
          <a:solidFill>
            <a:srgbClr val="F4F7FB"/>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6" name="Shape 14"/>
          <p:cNvSpPr/>
          <p:nvPr/>
        </p:nvSpPr>
        <p:spPr>
          <a:xfrm>
            <a:off x="777240" y="4910328"/>
            <a:ext cx="548640" cy="548640"/>
          </a:xfrm>
          <a:prstGeom prst="ellipse">
            <a:avLst/>
          </a:prstGeom>
          <a:solidFill>
            <a:srgbClr val="1E2761"/>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7" name="Text 15"/>
          <p:cNvSpPr/>
          <p:nvPr/>
        </p:nvSpPr>
        <p:spPr>
          <a:xfrm>
            <a:off x="777240" y="4910328"/>
            <a:ext cx="548640" cy="548640"/>
          </a:xfrm>
          <a:prstGeom prst="rect">
            <a:avLst/>
          </a:prstGeom>
          <a:noFill/>
          <a:ln/>
        </p:spPr>
        <p:txBody>
          <a:bodyPr wrap="square" rtlCol="0" anchor="ctr"/>
          <a:lstStyle/>
          <a:p>
            <a:pPr marL="0" indent="0" algn="ctr">
              <a:buNone/>
            </a:pPr>
            <a:r>
              <a:rPr lang="en-US" sz="2000" b="1" dirty="0">
                <a:solidFill>
                  <a:srgbClr val="FFFFFF"/>
                </a:solidFill>
                <a:latin typeface="Times New Roman" panose="02020603050405020304" pitchFamily="18" charset="0"/>
                <a:ea typeface="Cambria" pitchFamily="34" charset="-122"/>
                <a:cs typeface="Times New Roman" panose="02020603050405020304" pitchFamily="18" charset="0"/>
              </a:rPr>
              <a:t>3</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1554480" y="4764024"/>
            <a:ext cx="4937760" cy="365760"/>
          </a:xfrm>
          <a:prstGeom prst="rect">
            <a:avLst/>
          </a:prstGeom>
          <a:noFill/>
          <a:ln/>
        </p:spPr>
        <p:txBody>
          <a:bodyPr wrap="square" rtlCol="0" anchor="ctr"/>
          <a:lstStyle/>
          <a:p>
            <a:pPr marL="0" indent="0">
              <a:buNone/>
            </a:pPr>
            <a:r>
              <a:rPr lang="en-US" sz="1700" b="1" dirty="0">
                <a:solidFill>
                  <a:srgbClr val="1E2761"/>
                </a:solidFill>
                <a:latin typeface="Times New Roman" panose="02020603050405020304" pitchFamily="18" charset="0"/>
                <a:ea typeface="Calibri" pitchFamily="34" charset="-122"/>
                <a:cs typeface="Times New Roman" panose="02020603050405020304" pitchFamily="18" charset="0"/>
              </a:rPr>
              <a:t>Set by hand</a:t>
            </a:r>
            <a:endParaRPr lang="en-US" sz="1700" dirty="0">
              <a:latin typeface="Times New Roman" panose="02020603050405020304" pitchFamily="18" charset="0"/>
              <a:cs typeface="Times New Roman" panose="02020603050405020304" pitchFamily="18" charset="0"/>
            </a:endParaRPr>
          </a:p>
        </p:txBody>
      </p:sp>
      <p:sp>
        <p:nvSpPr>
          <p:cNvPr id="19" name="Text 17"/>
          <p:cNvSpPr/>
          <p:nvPr/>
        </p:nvSpPr>
        <p:spPr>
          <a:xfrm>
            <a:off x="1554480" y="5148072"/>
            <a:ext cx="4937760" cy="502920"/>
          </a:xfrm>
          <a:prstGeom prst="rect">
            <a:avLst/>
          </a:prstGeom>
          <a:noFill/>
          <a:ln/>
        </p:spPr>
        <p:txBody>
          <a:bodyPr wrap="square" rtlCol="0" anchor="ctr"/>
          <a:lstStyle/>
          <a:p>
            <a:pPr marL="0" indent="0">
              <a:buNone/>
            </a:pPr>
            <a:r>
              <a:rPr lang="en-US" sz="1350" dirty="0">
                <a:solidFill>
                  <a:srgbClr val="22303C"/>
                </a:solidFill>
                <a:latin typeface="Times New Roman" panose="02020603050405020304" pitchFamily="18" charset="0"/>
                <a:ea typeface="Calibri" pitchFamily="34" charset="-122"/>
                <a:cs typeface="Times New Roman" panose="02020603050405020304" pitchFamily="18" charset="0"/>
              </a:rPr>
              <a:t>Heuristics rarely optimise against a stated objective.</a:t>
            </a:r>
            <a:endParaRPr lang="en-US" sz="1350" dirty="0">
              <a:latin typeface="Times New Roman" panose="02020603050405020304" pitchFamily="18" charset="0"/>
              <a:cs typeface="Times New Roman" panose="02020603050405020304" pitchFamily="18" charset="0"/>
            </a:endParaRPr>
          </a:p>
        </p:txBody>
      </p:sp>
      <p:sp>
        <p:nvSpPr>
          <p:cNvPr id="20" name="Shape 18"/>
          <p:cNvSpPr/>
          <p:nvPr/>
        </p:nvSpPr>
        <p:spPr>
          <a:xfrm>
            <a:off x="7040880" y="1965960"/>
            <a:ext cx="4572000" cy="3794760"/>
          </a:xfrm>
          <a:prstGeom prst="roundRect">
            <a:avLst>
              <a:gd name="adj" fmla="val 2410"/>
            </a:avLst>
          </a:prstGeom>
          <a:solidFill>
            <a:srgbClr val="1E2761"/>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1" name="Text 19"/>
          <p:cNvSpPr/>
          <p:nvPr/>
        </p:nvSpPr>
        <p:spPr>
          <a:xfrm>
            <a:off x="7315200" y="2240280"/>
            <a:ext cx="4023360" cy="365760"/>
          </a:xfrm>
          <a:prstGeom prst="rect">
            <a:avLst/>
          </a:prstGeom>
          <a:noFill/>
          <a:ln/>
        </p:spPr>
        <p:txBody>
          <a:bodyPr wrap="square" rtlCol="0" anchor="ctr"/>
          <a:lstStyle/>
          <a:p>
            <a:pPr marL="0" indent="0">
              <a:buNone/>
            </a:pPr>
            <a:r>
              <a:rPr lang="en-US" sz="1400" b="1" kern="0" spc="100" dirty="0">
                <a:solidFill>
                  <a:srgbClr val="E8A33D"/>
                </a:solidFill>
                <a:latin typeface="Times New Roman" panose="02020603050405020304" pitchFamily="18" charset="0"/>
                <a:ea typeface="Calibri" pitchFamily="34" charset="-122"/>
                <a:cs typeface="Times New Roman" panose="02020603050405020304" pitchFamily="18" charset="0"/>
              </a:rPr>
              <a:t>Our approach</a:t>
            </a:r>
            <a:endParaRPr lang="en-US" sz="1400" dirty="0">
              <a:latin typeface="Times New Roman" panose="02020603050405020304" pitchFamily="18" charset="0"/>
              <a:cs typeface="Times New Roman" panose="02020603050405020304" pitchFamily="18" charset="0"/>
            </a:endParaRPr>
          </a:p>
        </p:txBody>
      </p:sp>
      <p:sp>
        <p:nvSpPr>
          <p:cNvPr id="22" name="Text 20"/>
          <p:cNvSpPr/>
          <p:nvPr/>
        </p:nvSpPr>
        <p:spPr>
          <a:xfrm>
            <a:off x="7315200" y="2788920"/>
            <a:ext cx="4023360" cy="2834640"/>
          </a:xfrm>
          <a:prstGeom prst="rect">
            <a:avLst/>
          </a:prstGeom>
          <a:noFill/>
          <a:ln/>
        </p:spPr>
        <p:txBody>
          <a:bodyPr wrap="square" rtlCol="0" anchor="ctr"/>
          <a:lstStyle/>
          <a:p>
            <a:pPr marL="190500" indent="-190500">
              <a:lnSpc>
                <a:spcPct val="105000"/>
              </a:lnSpc>
              <a:spcAft>
                <a:spcPts val="1000"/>
              </a:spcAft>
              <a:buSzPct val="100000"/>
              <a:buChar char="•"/>
            </a:pPr>
            <a:r>
              <a:rPr lang="en-US" sz="1500" dirty="0">
                <a:solidFill>
                  <a:srgbClr val="CADCFC"/>
                </a:solidFill>
                <a:latin typeface="Times New Roman" panose="02020603050405020304" pitchFamily="18" charset="0"/>
                <a:ea typeface="Calibri" pitchFamily="34" charset="-122"/>
                <a:cs typeface="Times New Roman" panose="02020603050405020304" pitchFamily="18" charset="0"/>
              </a:rPr>
              <a:t>Treat pricing as a sequential decision problem</a:t>
            </a:r>
            <a:endParaRPr lang="en-US" sz="1500" dirty="0">
              <a:latin typeface="Times New Roman" panose="02020603050405020304" pitchFamily="18" charset="0"/>
              <a:cs typeface="Times New Roman" panose="02020603050405020304" pitchFamily="18" charset="0"/>
            </a:endParaRPr>
          </a:p>
          <a:p>
            <a:pPr marL="190500" indent="-190500">
              <a:lnSpc>
                <a:spcPct val="105000"/>
              </a:lnSpc>
              <a:spcAft>
                <a:spcPts val="1000"/>
              </a:spcAft>
              <a:buSzPct val="100000"/>
              <a:buChar char="•"/>
            </a:pPr>
            <a:r>
              <a:rPr lang="en-US" sz="1500" dirty="0">
                <a:solidFill>
                  <a:srgbClr val="CADCFC"/>
                </a:solidFill>
                <a:latin typeface="Times New Roman" panose="02020603050405020304" pitchFamily="18" charset="0"/>
                <a:ea typeface="Calibri" pitchFamily="34" charset="-122"/>
                <a:cs typeface="Times New Roman" panose="02020603050405020304" pitchFamily="18" charset="0"/>
              </a:rPr>
              <a:t>Learn the policy directly from an explicit revenue objective</a:t>
            </a:r>
            <a:endParaRPr lang="en-US" sz="1500" dirty="0">
              <a:latin typeface="Times New Roman" panose="02020603050405020304" pitchFamily="18" charset="0"/>
              <a:cs typeface="Times New Roman" panose="02020603050405020304" pitchFamily="18" charset="0"/>
            </a:endParaRPr>
          </a:p>
          <a:p>
            <a:pPr marL="190500" indent="-190500">
              <a:lnSpc>
                <a:spcPct val="105000"/>
              </a:lnSpc>
              <a:spcAft>
                <a:spcPts val="1000"/>
              </a:spcAft>
              <a:buSzPct val="100000"/>
              <a:buChar char="•"/>
            </a:pPr>
            <a:r>
              <a:rPr lang="en-US" sz="1500" dirty="0">
                <a:solidFill>
                  <a:srgbClr val="CADCFC"/>
                </a:solidFill>
                <a:latin typeface="Times New Roman" panose="02020603050405020304" pitchFamily="18" charset="0"/>
                <a:ea typeface="Calibri" pitchFamily="34" charset="-122"/>
                <a:cs typeface="Times New Roman" panose="02020603050405020304" pitchFamily="18" charset="0"/>
              </a:rPr>
              <a:t>Balance revenue against customer goodwill</a:t>
            </a:r>
            <a:endParaRPr lang="en-US" sz="1500" dirty="0">
              <a:latin typeface="Times New Roman" panose="02020603050405020304" pitchFamily="18" charset="0"/>
              <a:cs typeface="Times New Roman" panose="02020603050405020304" pitchFamily="18" charset="0"/>
            </a:endParaRPr>
          </a:p>
          <a:p>
            <a:pPr marL="190500" indent="-190500">
              <a:lnSpc>
                <a:spcPct val="105000"/>
              </a:lnSpc>
              <a:buSzPct val="100000"/>
              <a:buChar char="•"/>
            </a:pPr>
            <a:r>
              <a:rPr lang="en-US" sz="1500" dirty="0">
                <a:solidFill>
                  <a:srgbClr val="CADCFC"/>
                </a:solidFill>
                <a:latin typeface="Times New Roman" panose="02020603050405020304" pitchFamily="18" charset="0"/>
                <a:ea typeface="Calibri" pitchFamily="34" charset="-122"/>
                <a:cs typeface="Times New Roman" panose="02020603050405020304" pitchFamily="18" charset="0"/>
              </a:rPr>
              <a:t>Solve it two independent ways and compare</a:t>
            </a:r>
            <a:endParaRPr lang="en-US" sz="1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ellipse">
            <a:avLst/>
          </a:prstGeom>
          <a:solidFill>
            <a:srgbClr val="E8A33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777240" y="502920"/>
            <a:ext cx="7315200" cy="320040"/>
          </a:xfrm>
          <a:prstGeom prst="rect">
            <a:avLst/>
          </a:prstGeom>
          <a:noFill/>
          <a:ln/>
        </p:spPr>
        <p:txBody>
          <a:bodyPr wrap="square" rtlCol="0" anchor="ctr"/>
          <a:lstStyle/>
          <a:p>
            <a:pPr marL="0" indent="0">
              <a:buNone/>
            </a:pPr>
            <a:r>
              <a:rPr lang="en-US" sz="1300" b="1" kern="0" spc="200" dirty="0">
                <a:solidFill>
                  <a:srgbClr val="1C7293"/>
                </a:solidFill>
                <a:latin typeface="Times New Roman" panose="02020603050405020304" pitchFamily="18" charset="0"/>
                <a:ea typeface="Calibri" pitchFamily="34" charset="-122"/>
                <a:cs typeface="Times New Roman" panose="02020603050405020304" pitchFamily="18" charset="0"/>
              </a:rPr>
              <a:t>DATA &amp; THE KEY CHALLENGE</a:t>
            </a:r>
            <a:endParaRPr lang="en-US" sz="1300" dirty="0">
              <a:latin typeface="Times New Roman" panose="02020603050405020304" pitchFamily="18" charset="0"/>
              <a:cs typeface="Times New Roman" panose="02020603050405020304" pitchFamily="18" charset="0"/>
            </a:endParaRPr>
          </a:p>
        </p:txBody>
      </p:sp>
      <p:sp>
        <p:nvSpPr>
          <p:cNvPr id="4" name="Text 2"/>
          <p:cNvSpPr/>
          <p:nvPr/>
        </p:nvSpPr>
        <p:spPr>
          <a:xfrm>
            <a:off x="548640" y="822960"/>
            <a:ext cx="11064240" cy="82296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The demand curve cannot be read off the data</a:t>
            </a:r>
            <a:endParaRPr lang="en-US" sz="3000" dirty="0">
              <a:latin typeface="Times New Roman" panose="02020603050405020304" pitchFamily="18" charset="0"/>
              <a:cs typeface="Times New Roman" panose="02020603050405020304" pitchFamily="18" charset="0"/>
            </a:endParaRPr>
          </a:p>
        </p:txBody>
      </p:sp>
      <p:pic>
        <p:nvPicPr>
          <p:cNvPr id="5" name="Image 0" descr="fig/eda_surge_dist.png"/>
          <p:cNvPicPr>
            <a:picLocks noChangeAspect="1"/>
          </p:cNvPicPr>
          <p:nvPr/>
        </p:nvPicPr>
        <p:blipFill>
          <a:blip r:embed="rId3"/>
          <a:stretch>
            <a:fillRect/>
          </a:stretch>
        </p:blipFill>
        <p:spPr>
          <a:xfrm>
            <a:off x="6675120" y="2057400"/>
            <a:ext cx="4937760" cy="3291840"/>
          </a:xfrm>
          <a:prstGeom prst="rect">
            <a:avLst/>
          </a:prstGeom>
        </p:spPr>
      </p:pic>
      <p:sp>
        <p:nvSpPr>
          <p:cNvPr id="6" name="Text 3"/>
          <p:cNvSpPr/>
          <p:nvPr/>
        </p:nvSpPr>
        <p:spPr>
          <a:xfrm>
            <a:off x="6675120" y="5532120"/>
            <a:ext cx="4937760" cy="320040"/>
          </a:xfrm>
          <a:prstGeom prst="rect">
            <a:avLst/>
          </a:prstGeom>
          <a:noFill/>
          <a:ln/>
        </p:spPr>
        <p:txBody>
          <a:bodyPr wrap="square" rtlCol="0" anchor="ctr"/>
          <a:lstStyle/>
          <a:p>
            <a:pPr marL="0" indent="0" algn="ctr">
              <a:buNone/>
            </a:pPr>
            <a:r>
              <a:rPr lang="en-US" sz="1100" i="1" dirty="0">
                <a:solidFill>
                  <a:srgbClr val="5A6B76"/>
                </a:solidFill>
                <a:latin typeface="Times New Roman" panose="02020603050405020304" pitchFamily="18" charset="0"/>
                <a:ea typeface="Calibri" pitchFamily="34" charset="-122"/>
                <a:cs typeface="Times New Roman" panose="02020603050405020304" pitchFamily="18" charset="0"/>
              </a:rPr>
              <a:t>Fig. Surge distribution (Lyft): ~93% of rides sit at 1.0×.</a:t>
            </a:r>
            <a:endParaRPr lang="en-US" sz="1100" dirty="0">
              <a:latin typeface="Times New Roman" panose="02020603050405020304" pitchFamily="18" charset="0"/>
              <a:cs typeface="Times New Roman" panose="02020603050405020304" pitchFamily="18" charset="0"/>
            </a:endParaRPr>
          </a:p>
        </p:txBody>
      </p:sp>
      <p:sp>
        <p:nvSpPr>
          <p:cNvPr id="7" name="Text 4"/>
          <p:cNvSpPr/>
          <p:nvPr/>
        </p:nvSpPr>
        <p:spPr>
          <a:xfrm>
            <a:off x="548640" y="2011680"/>
            <a:ext cx="5852160" cy="3474720"/>
          </a:xfrm>
          <a:prstGeom prst="rect">
            <a:avLst/>
          </a:prstGeom>
          <a:noFill/>
          <a:ln/>
        </p:spPr>
        <p:txBody>
          <a:bodyPr wrap="square" rtlCol="0" anchor="ctr"/>
          <a:lstStyle/>
          <a:p>
            <a:pPr marL="190500" indent="-190500">
              <a:lnSpc>
                <a:spcPct val="105000"/>
              </a:lnSpc>
              <a:spcAft>
                <a:spcPts val="1200"/>
              </a:spcAft>
              <a:buSzPct val="100000"/>
              <a:buChar char="•"/>
            </a:pPr>
            <a:r>
              <a:rPr lang="en-US" sz="1550" dirty="0">
                <a:solidFill>
                  <a:srgbClr val="22303C"/>
                </a:solidFill>
                <a:latin typeface="Times New Roman" panose="02020603050405020304" pitchFamily="18" charset="0"/>
                <a:ea typeface="Calibri" pitchFamily="34" charset="-122"/>
                <a:cs typeface="Times New Roman" panose="02020603050405020304" pitchFamily="18" charset="0"/>
              </a:rPr>
              <a:t>693k rides, Boston 2018. Only Lyft has varying surge — so we learn on the 307k-ride Lyft subset.</a:t>
            </a:r>
            <a:endParaRPr lang="en-US" sz="1550" dirty="0">
              <a:latin typeface="Times New Roman" panose="02020603050405020304" pitchFamily="18" charset="0"/>
              <a:cs typeface="Times New Roman" panose="02020603050405020304" pitchFamily="18" charset="0"/>
            </a:endParaRPr>
          </a:p>
          <a:p>
            <a:pPr marL="190500" indent="-190500">
              <a:lnSpc>
                <a:spcPct val="105000"/>
              </a:lnSpc>
              <a:spcAft>
                <a:spcPts val="1200"/>
              </a:spcAft>
              <a:buSzPct val="100000"/>
              <a:buChar char="•"/>
            </a:pPr>
            <a:r>
              <a:rPr lang="en-US" sz="1550" dirty="0">
                <a:solidFill>
                  <a:srgbClr val="1E2761"/>
                </a:solidFill>
                <a:latin typeface="Times New Roman" panose="02020603050405020304" pitchFamily="18" charset="0"/>
                <a:ea typeface="Calibri" pitchFamily="34" charset="-122"/>
                <a:cs typeface="Times New Roman" panose="02020603050405020304" pitchFamily="18" charset="0"/>
              </a:rPr>
              <a:t>In the data, surge is a RESPONSE to demand, not a cause.</a:t>
            </a:r>
            <a:endParaRPr lang="en-US" sz="1550" dirty="0">
              <a:latin typeface="Times New Roman" panose="02020603050405020304" pitchFamily="18" charset="0"/>
              <a:cs typeface="Times New Roman" panose="02020603050405020304" pitchFamily="18" charset="0"/>
            </a:endParaRPr>
          </a:p>
          <a:p>
            <a:pPr marL="190500" indent="-190500">
              <a:lnSpc>
                <a:spcPct val="105000"/>
              </a:lnSpc>
              <a:spcAft>
                <a:spcPts val="1200"/>
              </a:spcAft>
              <a:buSzPct val="100000"/>
              <a:buChar char="•"/>
            </a:pPr>
            <a:r>
              <a:rPr lang="en-US" sz="1550" dirty="0">
                <a:solidFill>
                  <a:srgbClr val="22303C"/>
                </a:solidFill>
                <a:latin typeface="Times New Roman" panose="02020603050405020304" pitchFamily="18" charset="0"/>
                <a:ea typeface="Calibri" pitchFamily="34" charset="-122"/>
                <a:cs typeface="Times New Roman" panose="02020603050405020304" pitchFamily="18" charset="0"/>
              </a:rPr>
              <a:t>Fitting demand on price would recover the curve backwards — classic endogeneity.</a:t>
            </a:r>
            <a:endParaRPr lang="en-US" sz="1550" dirty="0">
              <a:latin typeface="Times New Roman" panose="02020603050405020304" pitchFamily="18" charset="0"/>
              <a:cs typeface="Times New Roman" panose="02020603050405020304" pitchFamily="18" charset="0"/>
            </a:endParaRPr>
          </a:p>
          <a:p>
            <a:pPr marL="190500" indent="-190500">
              <a:lnSpc>
                <a:spcPct val="105000"/>
              </a:lnSpc>
              <a:buSzPct val="100000"/>
              <a:buChar char="•"/>
            </a:pPr>
            <a:r>
              <a:rPr lang="en-US" sz="1550" dirty="0">
                <a:solidFill>
                  <a:srgbClr val="22303C"/>
                </a:solidFill>
                <a:latin typeface="Times New Roman" panose="02020603050405020304" pitchFamily="18" charset="0"/>
                <a:ea typeface="Calibri" pitchFamily="34" charset="-122"/>
                <a:cs typeface="Times New Roman" panose="02020603050405020304" pitchFamily="18" charset="0"/>
              </a:rPr>
              <a:t>Fix: impose a cited elasticity model; use the data only for baseline demand and fares.</a:t>
            </a:r>
            <a:endParaRPr lang="en-US" sz="15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ellipse">
            <a:avLst/>
          </a:prstGeom>
          <a:solidFill>
            <a:srgbClr val="E8A33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777240" y="502920"/>
            <a:ext cx="7315200" cy="320040"/>
          </a:xfrm>
          <a:prstGeom prst="rect">
            <a:avLst/>
          </a:prstGeom>
          <a:noFill/>
          <a:ln/>
        </p:spPr>
        <p:txBody>
          <a:bodyPr wrap="square" rtlCol="0" anchor="ctr"/>
          <a:lstStyle/>
          <a:p>
            <a:pPr marL="0" indent="0">
              <a:buNone/>
            </a:pPr>
            <a:r>
              <a:rPr lang="en-US" sz="1300" b="1" kern="0" spc="200" dirty="0">
                <a:solidFill>
                  <a:srgbClr val="1C7293"/>
                </a:solidFill>
                <a:latin typeface="Times New Roman" panose="02020603050405020304" pitchFamily="18" charset="0"/>
                <a:ea typeface="Calibri" pitchFamily="34" charset="-122"/>
                <a:cs typeface="Times New Roman" panose="02020603050405020304" pitchFamily="18" charset="0"/>
              </a:rPr>
              <a:t>FORMULATION — THE MDP</a:t>
            </a:r>
            <a:endParaRPr lang="en-US" sz="1300" dirty="0">
              <a:latin typeface="Times New Roman" panose="02020603050405020304" pitchFamily="18" charset="0"/>
              <a:cs typeface="Times New Roman" panose="02020603050405020304" pitchFamily="18" charset="0"/>
            </a:endParaRPr>
          </a:p>
        </p:txBody>
      </p:sp>
      <p:sp>
        <p:nvSpPr>
          <p:cNvPr id="4" name="Text 2"/>
          <p:cNvSpPr/>
          <p:nvPr/>
        </p:nvSpPr>
        <p:spPr>
          <a:xfrm>
            <a:off x="548640" y="822960"/>
            <a:ext cx="11064240" cy="82296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Pricing as a Markov Decision Process</a:t>
            </a:r>
            <a:endParaRPr lang="en-US" sz="3000" dirty="0">
              <a:latin typeface="Times New Roman" panose="02020603050405020304" pitchFamily="18" charset="0"/>
              <a:cs typeface="Times New Roman" panose="02020603050405020304" pitchFamily="18" charset="0"/>
            </a:endParaRPr>
          </a:p>
        </p:txBody>
      </p:sp>
      <p:sp>
        <p:nvSpPr>
          <p:cNvPr id="5" name="Shape 3"/>
          <p:cNvSpPr/>
          <p:nvPr/>
        </p:nvSpPr>
        <p:spPr>
          <a:xfrm>
            <a:off x="548640" y="1965960"/>
            <a:ext cx="2697480" cy="1371600"/>
          </a:xfrm>
          <a:prstGeom prst="roundRect">
            <a:avLst>
              <a:gd name="adj" fmla="val 5333"/>
            </a:avLst>
          </a:prstGeom>
          <a:solidFill>
            <a:srgbClr val="1E2761"/>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Text 4"/>
          <p:cNvSpPr/>
          <p:nvPr/>
        </p:nvSpPr>
        <p:spPr>
          <a:xfrm>
            <a:off x="731520" y="2103120"/>
            <a:ext cx="2377440" cy="365760"/>
          </a:xfrm>
          <a:prstGeom prst="rect">
            <a:avLst/>
          </a:prstGeom>
          <a:noFill/>
          <a:ln/>
        </p:spPr>
        <p:txBody>
          <a:bodyPr wrap="square" rtlCol="0" anchor="ctr"/>
          <a:lstStyle/>
          <a:p>
            <a:pPr marL="0" indent="0">
              <a:buNone/>
            </a:pPr>
            <a:r>
              <a:rPr lang="en-US" sz="1400" b="1" dirty="0">
                <a:solidFill>
                  <a:srgbClr val="E8A33D"/>
                </a:solidFill>
                <a:latin typeface="Times New Roman" panose="02020603050405020304" pitchFamily="18" charset="0"/>
                <a:ea typeface="Calibri" pitchFamily="34" charset="-122"/>
                <a:cs typeface="Times New Roman" panose="02020603050405020304" pitchFamily="18" charset="0"/>
              </a:rPr>
              <a:t>STATE</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731520" y="2487168"/>
            <a:ext cx="2377440" cy="777240"/>
          </a:xfrm>
          <a:prstGeom prst="rect">
            <a:avLst/>
          </a:prstGeom>
          <a:noFill/>
          <a:ln/>
        </p:spPr>
        <p:txBody>
          <a:bodyPr wrap="square" rtlCol="0" anchor="ctr"/>
          <a:lstStyle/>
          <a:p>
            <a:pPr marL="0" indent="0">
              <a:buNone/>
            </a:pPr>
            <a:r>
              <a:rPr lang="en-US" sz="1250" dirty="0">
                <a:solidFill>
                  <a:srgbClr val="CADCFC"/>
                </a:solidFill>
                <a:latin typeface="Times New Roman" panose="02020603050405020304" pitchFamily="18" charset="0"/>
                <a:ea typeface="Calibri" pitchFamily="34" charset="-122"/>
                <a:cs typeface="Times New Roman" panose="02020603050405020304" pitchFamily="18" charset="0"/>
              </a:rPr>
              <a:t>demand · weather · product · goodwill  (270 states)</a:t>
            </a:r>
            <a:endParaRPr lang="en-US" sz="1250" dirty="0">
              <a:latin typeface="Times New Roman" panose="02020603050405020304" pitchFamily="18" charset="0"/>
              <a:cs typeface="Times New Roman" panose="02020603050405020304" pitchFamily="18" charset="0"/>
            </a:endParaRPr>
          </a:p>
        </p:txBody>
      </p:sp>
      <p:sp>
        <p:nvSpPr>
          <p:cNvPr id="8" name="Shape 6"/>
          <p:cNvSpPr/>
          <p:nvPr/>
        </p:nvSpPr>
        <p:spPr>
          <a:xfrm>
            <a:off x="3429000" y="1965960"/>
            <a:ext cx="2697480" cy="1371600"/>
          </a:xfrm>
          <a:prstGeom prst="roundRect">
            <a:avLst>
              <a:gd name="adj" fmla="val 5333"/>
            </a:avLst>
          </a:prstGeom>
          <a:solidFill>
            <a:srgbClr val="1C7293"/>
          </a:solidFill>
          <a:ln/>
        </p:spPr>
        <p:txBody>
          <a:bodyPr/>
          <a:lstStyle/>
          <a:p>
            <a:endParaRPr lang="en-US">
              <a:latin typeface="Times New Roman" panose="02020603050405020304" pitchFamily="18" charset="0"/>
              <a:cs typeface="Times New Roman" panose="02020603050405020304" pitchFamily="18" charset="0"/>
            </a:endParaRPr>
          </a:p>
        </p:txBody>
      </p:sp>
      <p:sp>
        <p:nvSpPr>
          <p:cNvPr id="9" name="Text 7"/>
          <p:cNvSpPr/>
          <p:nvPr/>
        </p:nvSpPr>
        <p:spPr>
          <a:xfrm>
            <a:off x="3611880" y="2103120"/>
            <a:ext cx="2377440" cy="365760"/>
          </a:xfrm>
          <a:prstGeom prst="rect">
            <a:avLst/>
          </a:prstGeom>
          <a:noFill/>
          <a:ln/>
        </p:spPr>
        <p:txBody>
          <a:bodyPr wrap="square" rtlCol="0" anchor="ctr"/>
          <a:lstStyle/>
          <a:p>
            <a:pPr marL="0" indent="0">
              <a:buNone/>
            </a:pPr>
            <a:r>
              <a:rPr lang="en-US" sz="1400" b="1" dirty="0">
                <a:solidFill>
                  <a:srgbClr val="E8A33D"/>
                </a:solidFill>
                <a:latin typeface="Times New Roman" panose="02020603050405020304" pitchFamily="18" charset="0"/>
                <a:ea typeface="Calibri" pitchFamily="34" charset="-122"/>
                <a:cs typeface="Times New Roman" panose="02020603050405020304" pitchFamily="18" charset="0"/>
              </a:rPr>
              <a:t>ACTION</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3611880" y="2487168"/>
            <a:ext cx="2377440" cy="777240"/>
          </a:xfrm>
          <a:prstGeom prst="rect">
            <a:avLst/>
          </a:prstGeom>
          <a:noFill/>
          <a:ln/>
        </p:spPr>
        <p:txBody>
          <a:bodyPr wrap="square" rtlCol="0" anchor="ctr"/>
          <a:lstStyle/>
          <a:p>
            <a:pPr marL="0" indent="0">
              <a:buNone/>
            </a:pPr>
            <a:r>
              <a:rPr lang="en-US" sz="1250" dirty="0">
                <a:solidFill>
                  <a:srgbClr val="CADCFC"/>
                </a:solidFill>
                <a:latin typeface="Times New Roman" panose="02020603050405020304" pitchFamily="18" charset="0"/>
                <a:ea typeface="Calibri" pitchFamily="34" charset="-122"/>
                <a:cs typeface="Times New Roman" panose="02020603050405020304" pitchFamily="18" charset="0"/>
              </a:rPr>
              <a:t>surge multiplier ∈ {1.0 … 3.0}</a:t>
            </a:r>
            <a:endParaRPr lang="en-US" sz="1250" dirty="0">
              <a:latin typeface="Times New Roman" panose="02020603050405020304" pitchFamily="18" charset="0"/>
              <a:cs typeface="Times New Roman" panose="02020603050405020304" pitchFamily="18" charset="0"/>
            </a:endParaRPr>
          </a:p>
        </p:txBody>
      </p:sp>
      <p:sp>
        <p:nvSpPr>
          <p:cNvPr id="11" name="Shape 9"/>
          <p:cNvSpPr/>
          <p:nvPr/>
        </p:nvSpPr>
        <p:spPr>
          <a:xfrm>
            <a:off x="6309360" y="1965960"/>
            <a:ext cx="2697480" cy="1371600"/>
          </a:xfrm>
          <a:prstGeom prst="roundRect">
            <a:avLst>
              <a:gd name="adj" fmla="val 5333"/>
            </a:avLst>
          </a:prstGeom>
          <a:solidFill>
            <a:srgbClr val="1E2761"/>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2" name="Text 10"/>
          <p:cNvSpPr/>
          <p:nvPr/>
        </p:nvSpPr>
        <p:spPr>
          <a:xfrm>
            <a:off x="6492240" y="2103120"/>
            <a:ext cx="2377440" cy="365760"/>
          </a:xfrm>
          <a:prstGeom prst="rect">
            <a:avLst/>
          </a:prstGeom>
          <a:noFill/>
          <a:ln/>
        </p:spPr>
        <p:txBody>
          <a:bodyPr wrap="square" rtlCol="0" anchor="ctr"/>
          <a:lstStyle/>
          <a:p>
            <a:pPr marL="0" indent="0">
              <a:buNone/>
            </a:pPr>
            <a:r>
              <a:rPr lang="en-US" sz="1400" b="1" dirty="0">
                <a:solidFill>
                  <a:srgbClr val="E8A33D"/>
                </a:solidFill>
                <a:latin typeface="Times New Roman" panose="02020603050405020304" pitchFamily="18" charset="0"/>
                <a:ea typeface="Calibri" pitchFamily="34" charset="-122"/>
                <a:cs typeface="Times New Roman" panose="02020603050405020304" pitchFamily="18" charset="0"/>
              </a:rPr>
              <a:t>REWARD</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6492240" y="2487168"/>
            <a:ext cx="2377440" cy="777240"/>
          </a:xfrm>
          <a:prstGeom prst="rect">
            <a:avLst/>
          </a:prstGeom>
          <a:noFill/>
          <a:ln/>
        </p:spPr>
        <p:txBody>
          <a:bodyPr wrap="square" rtlCol="0" anchor="ctr"/>
          <a:lstStyle/>
          <a:p>
            <a:pPr marL="0" indent="0">
              <a:buNone/>
            </a:pPr>
            <a:r>
              <a:rPr lang="en-US" sz="1250" dirty="0">
                <a:solidFill>
                  <a:srgbClr val="CADCFC"/>
                </a:solidFill>
                <a:latin typeface="Times New Roman" panose="02020603050405020304" pitchFamily="18" charset="0"/>
                <a:ea typeface="Calibri" pitchFamily="34" charset="-122"/>
                <a:cs typeface="Times New Roman" panose="02020603050405020304" pitchFamily="18" charset="0"/>
              </a:rPr>
              <a:t>revenue − dissatisfaction penalty</a:t>
            </a:r>
            <a:endParaRPr lang="en-US" sz="1250" dirty="0">
              <a:latin typeface="Times New Roman" panose="02020603050405020304" pitchFamily="18" charset="0"/>
              <a:cs typeface="Times New Roman" panose="02020603050405020304" pitchFamily="18" charset="0"/>
            </a:endParaRPr>
          </a:p>
        </p:txBody>
      </p:sp>
      <p:sp>
        <p:nvSpPr>
          <p:cNvPr id="14" name="Shape 12"/>
          <p:cNvSpPr/>
          <p:nvPr/>
        </p:nvSpPr>
        <p:spPr>
          <a:xfrm>
            <a:off x="9189720" y="1965960"/>
            <a:ext cx="2697480" cy="1371600"/>
          </a:xfrm>
          <a:prstGeom prst="roundRect">
            <a:avLst>
              <a:gd name="adj" fmla="val 5333"/>
            </a:avLst>
          </a:prstGeom>
          <a:solidFill>
            <a:srgbClr val="1C7293"/>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5" name="Text 13"/>
          <p:cNvSpPr/>
          <p:nvPr/>
        </p:nvSpPr>
        <p:spPr>
          <a:xfrm>
            <a:off x="9372600" y="2103120"/>
            <a:ext cx="2377440" cy="365760"/>
          </a:xfrm>
          <a:prstGeom prst="rect">
            <a:avLst/>
          </a:prstGeom>
          <a:noFill/>
          <a:ln/>
        </p:spPr>
        <p:txBody>
          <a:bodyPr wrap="square" rtlCol="0" anchor="ctr"/>
          <a:lstStyle/>
          <a:p>
            <a:pPr marL="0" indent="0">
              <a:buNone/>
            </a:pPr>
            <a:r>
              <a:rPr lang="en-US" sz="1400" b="1" dirty="0">
                <a:solidFill>
                  <a:srgbClr val="E8A33D"/>
                </a:solidFill>
                <a:latin typeface="Times New Roman" panose="02020603050405020304" pitchFamily="18" charset="0"/>
                <a:ea typeface="Calibri" pitchFamily="34" charset="-122"/>
                <a:cs typeface="Times New Roman" panose="02020603050405020304" pitchFamily="18" charset="0"/>
              </a:rPr>
              <a:t>TRANSITION</a:t>
            </a: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9372600" y="2487168"/>
            <a:ext cx="2377440" cy="777240"/>
          </a:xfrm>
          <a:prstGeom prst="rect">
            <a:avLst/>
          </a:prstGeom>
          <a:noFill/>
          <a:ln/>
        </p:spPr>
        <p:txBody>
          <a:bodyPr wrap="square" rtlCol="0" anchor="ctr"/>
          <a:lstStyle/>
          <a:p>
            <a:pPr marL="0" indent="0">
              <a:buNone/>
            </a:pPr>
            <a:r>
              <a:rPr lang="en-US" sz="1250" dirty="0">
                <a:solidFill>
                  <a:srgbClr val="CADCFC"/>
                </a:solidFill>
                <a:latin typeface="Times New Roman" panose="02020603050405020304" pitchFamily="18" charset="0"/>
                <a:ea typeface="Calibri" pitchFamily="34" charset="-122"/>
                <a:cs typeface="Times New Roman" panose="02020603050405020304" pitchFamily="18" charset="0"/>
              </a:rPr>
              <a:t>goodwill erodes on surge, recovers on rest</a:t>
            </a:r>
            <a:endParaRPr lang="en-US" sz="1250" dirty="0">
              <a:latin typeface="Times New Roman" panose="02020603050405020304" pitchFamily="18" charset="0"/>
              <a:cs typeface="Times New Roman" panose="02020603050405020304" pitchFamily="18" charset="0"/>
            </a:endParaRPr>
          </a:p>
        </p:txBody>
      </p:sp>
      <p:pic>
        <p:nvPicPr>
          <p:cNvPr id="17" name="Image 0" descr="fig/env_demand_response.png"/>
          <p:cNvPicPr>
            <a:picLocks noChangeAspect="1"/>
          </p:cNvPicPr>
          <p:nvPr/>
        </p:nvPicPr>
        <p:blipFill>
          <a:blip r:embed="rId3"/>
          <a:stretch>
            <a:fillRect/>
          </a:stretch>
        </p:blipFill>
        <p:spPr>
          <a:xfrm>
            <a:off x="2874645" y="3611880"/>
            <a:ext cx="6412230" cy="2331720"/>
          </a:xfrm>
          <a:prstGeom prst="rect">
            <a:avLst/>
          </a:prstGeom>
        </p:spPr>
      </p:pic>
      <p:sp>
        <p:nvSpPr>
          <p:cNvPr id="18" name="Text 15"/>
          <p:cNvSpPr/>
          <p:nvPr/>
        </p:nvSpPr>
        <p:spPr>
          <a:xfrm>
            <a:off x="548640" y="5989320"/>
            <a:ext cx="11064240" cy="320040"/>
          </a:xfrm>
          <a:prstGeom prst="rect">
            <a:avLst/>
          </a:prstGeom>
          <a:noFill/>
          <a:ln/>
        </p:spPr>
        <p:txBody>
          <a:bodyPr wrap="square" rtlCol="0" anchor="ctr"/>
          <a:lstStyle/>
          <a:p>
            <a:pPr marL="0" indent="0" algn="ctr">
              <a:buNone/>
            </a:pPr>
            <a:r>
              <a:rPr lang="en-US" sz="1100" i="1" dirty="0">
                <a:solidFill>
                  <a:srgbClr val="5A6B76"/>
                </a:solidFill>
                <a:latin typeface="Times New Roman" panose="02020603050405020304" pitchFamily="18" charset="0"/>
                <a:ea typeface="Calibri" pitchFamily="34" charset="-122"/>
                <a:cs typeface="Times New Roman" panose="02020603050405020304" pitchFamily="18" charset="0"/>
              </a:rPr>
              <a:t>Fig. Assumed demand decays with surge; the revenue-optimal surge differs by market regime — the basis for state-dependent pricing.</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ellipse">
            <a:avLst/>
          </a:prstGeom>
          <a:solidFill>
            <a:srgbClr val="E8A33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777240" y="502920"/>
            <a:ext cx="7315200" cy="320040"/>
          </a:xfrm>
          <a:prstGeom prst="rect">
            <a:avLst/>
          </a:prstGeom>
          <a:noFill/>
          <a:ln/>
        </p:spPr>
        <p:txBody>
          <a:bodyPr wrap="square" rtlCol="0" anchor="ctr"/>
          <a:lstStyle/>
          <a:p>
            <a:pPr marL="0" indent="0">
              <a:buNone/>
            </a:pPr>
            <a:r>
              <a:rPr lang="en-US" sz="1300" b="1" kern="0" spc="200" dirty="0">
                <a:solidFill>
                  <a:srgbClr val="1C7293"/>
                </a:solidFill>
                <a:latin typeface="Times New Roman" panose="02020603050405020304" pitchFamily="18" charset="0"/>
                <a:ea typeface="Calibri" pitchFamily="34" charset="-122"/>
                <a:cs typeface="Times New Roman" panose="02020603050405020304" pitchFamily="18" charset="0"/>
              </a:rPr>
              <a:t>TWO METHODS, ONE OBJECTIVE</a:t>
            </a:r>
            <a:endParaRPr lang="en-US" sz="1300" dirty="0">
              <a:latin typeface="Times New Roman" panose="02020603050405020304" pitchFamily="18" charset="0"/>
              <a:cs typeface="Times New Roman" panose="02020603050405020304" pitchFamily="18" charset="0"/>
            </a:endParaRPr>
          </a:p>
        </p:txBody>
      </p:sp>
      <p:sp>
        <p:nvSpPr>
          <p:cNvPr id="4" name="Text 2"/>
          <p:cNvSpPr/>
          <p:nvPr/>
        </p:nvSpPr>
        <p:spPr>
          <a:xfrm>
            <a:off x="548640" y="822960"/>
            <a:ext cx="11064240" cy="82296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A value-based learner vs a black-box optimiser</a:t>
            </a:r>
            <a:endParaRPr lang="en-US" sz="3000" dirty="0">
              <a:latin typeface="Times New Roman" panose="02020603050405020304" pitchFamily="18" charset="0"/>
              <a:cs typeface="Times New Roman" panose="02020603050405020304" pitchFamily="18" charset="0"/>
            </a:endParaRPr>
          </a:p>
        </p:txBody>
      </p:sp>
      <p:sp>
        <p:nvSpPr>
          <p:cNvPr id="5" name="Shape 3"/>
          <p:cNvSpPr/>
          <p:nvPr/>
        </p:nvSpPr>
        <p:spPr>
          <a:xfrm>
            <a:off x="548640" y="1965960"/>
            <a:ext cx="5349240" cy="3840480"/>
          </a:xfrm>
          <a:prstGeom prst="roundRect">
            <a:avLst>
              <a:gd name="adj" fmla="val 2381"/>
            </a:avLst>
          </a:prstGeom>
          <a:solidFill>
            <a:srgbClr val="F4F7FB"/>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Shape 4"/>
          <p:cNvSpPr/>
          <p:nvPr/>
        </p:nvSpPr>
        <p:spPr>
          <a:xfrm>
            <a:off x="548640" y="1965960"/>
            <a:ext cx="5349240" cy="777240"/>
          </a:xfrm>
          <a:prstGeom prst="roundRect">
            <a:avLst>
              <a:gd name="adj" fmla="val 11765"/>
            </a:avLst>
          </a:prstGeom>
          <a:solidFill>
            <a:srgbClr val="1E2761"/>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868680" y="2084832"/>
            <a:ext cx="4754880" cy="365760"/>
          </a:xfrm>
          <a:prstGeom prst="rect">
            <a:avLst/>
          </a:prstGeom>
          <a:noFill/>
          <a:ln/>
        </p:spPr>
        <p:txBody>
          <a:bodyPr wrap="square" rtlCol="0" anchor="ctr"/>
          <a:lstStyle/>
          <a:p>
            <a:pPr marL="0" indent="0">
              <a:buNone/>
            </a:pPr>
            <a:r>
              <a:rPr lang="en-US" sz="2000" b="1" dirty="0">
                <a:solidFill>
                  <a:srgbClr val="FFFFFF"/>
                </a:solidFill>
                <a:latin typeface="Times New Roman" panose="02020603050405020304" pitchFamily="18" charset="0"/>
                <a:ea typeface="Cambria" pitchFamily="34" charset="-122"/>
                <a:cs typeface="Times New Roman" panose="02020603050405020304" pitchFamily="18" charset="0"/>
              </a:rPr>
              <a:t>Q-learning (RL)</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868680" y="2432304"/>
            <a:ext cx="4754880" cy="274320"/>
          </a:xfrm>
          <a:prstGeom prst="rect">
            <a:avLst/>
          </a:prstGeom>
          <a:noFill/>
          <a:ln/>
        </p:spPr>
        <p:txBody>
          <a:bodyPr wrap="square" rtlCol="0" anchor="ctr"/>
          <a:lstStyle/>
          <a:p>
            <a:pPr marL="0" indent="0">
              <a:buNone/>
            </a:pPr>
            <a:r>
              <a:rPr lang="en-US" sz="1250" dirty="0">
                <a:solidFill>
                  <a:srgbClr val="CADCFC"/>
                </a:solidFill>
                <a:latin typeface="Times New Roman" panose="02020603050405020304" pitchFamily="18" charset="0"/>
                <a:ea typeface="Calibri" pitchFamily="34" charset="-122"/>
                <a:cs typeface="Times New Roman" panose="02020603050405020304" pitchFamily="18" charset="0"/>
              </a:rPr>
              <a:t>value-based · temporal-difference</a:t>
            </a:r>
            <a:endParaRPr lang="en-US" sz="1250" dirty="0">
              <a:latin typeface="Times New Roman" panose="02020603050405020304" pitchFamily="18" charset="0"/>
              <a:cs typeface="Times New Roman" panose="02020603050405020304" pitchFamily="18" charset="0"/>
            </a:endParaRPr>
          </a:p>
        </p:txBody>
      </p:sp>
      <p:sp>
        <p:nvSpPr>
          <p:cNvPr id="9" name="Text 7"/>
          <p:cNvSpPr/>
          <p:nvPr/>
        </p:nvSpPr>
        <p:spPr>
          <a:xfrm>
            <a:off x="868680" y="2926080"/>
            <a:ext cx="4754880" cy="2743200"/>
          </a:xfrm>
          <a:prstGeom prst="rect">
            <a:avLst/>
          </a:prstGeom>
          <a:noFill/>
          <a:ln/>
        </p:spPr>
        <p:txBody>
          <a:bodyPr wrap="square" rtlCol="0" anchor="ctr"/>
          <a:lstStyle/>
          <a:p>
            <a:pPr marL="190500" indent="-190500">
              <a:lnSpc>
                <a:spcPct val="105000"/>
              </a:lnSpc>
              <a:spcAft>
                <a:spcPts val="1100"/>
              </a:spcAft>
              <a:buSzPct val="100000"/>
              <a:buChar char="•"/>
            </a:pPr>
            <a:r>
              <a:rPr lang="en-US" sz="1450" dirty="0">
                <a:solidFill>
                  <a:srgbClr val="22303C"/>
                </a:solidFill>
                <a:latin typeface="Times New Roman" panose="02020603050405020304" pitchFamily="18" charset="0"/>
                <a:ea typeface="Calibri" pitchFamily="34" charset="-122"/>
                <a:cs typeface="Times New Roman" panose="02020603050405020304" pitchFamily="18" charset="0"/>
              </a:rPr>
              <a:t>Learns Q(s,a) by bootstrapping every step's reward</a:t>
            </a:r>
            <a:endParaRPr lang="en-US" sz="1450" dirty="0">
              <a:latin typeface="Times New Roman" panose="02020603050405020304" pitchFamily="18" charset="0"/>
              <a:cs typeface="Times New Roman" panose="02020603050405020304" pitchFamily="18" charset="0"/>
            </a:endParaRPr>
          </a:p>
          <a:p>
            <a:pPr marL="190500" indent="-190500">
              <a:lnSpc>
                <a:spcPct val="105000"/>
              </a:lnSpc>
              <a:spcAft>
                <a:spcPts val="1100"/>
              </a:spcAft>
              <a:buSzPct val="100000"/>
              <a:buChar char="•"/>
            </a:pPr>
            <a:r>
              <a:rPr lang="en-US" sz="1450" dirty="0">
                <a:solidFill>
                  <a:srgbClr val="22303C"/>
                </a:solidFill>
                <a:latin typeface="Times New Roman" panose="02020603050405020304" pitchFamily="18" charset="0"/>
                <a:ea typeface="Calibri" pitchFamily="34" charset="-122"/>
                <a:cs typeface="Times New Roman" panose="02020603050405020304" pitchFamily="18" charset="0"/>
              </a:rPr>
              <a:t>Exploits the Bellman / MDP structure — sample-efficient</a:t>
            </a:r>
            <a:endParaRPr lang="en-US" sz="1450" dirty="0">
              <a:latin typeface="Times New Roman" panose="02020603050405020304" pitchFamily="18" charset="0"/>
              <a:cs typeface="Times New Roman" panose="02020603050405020304" pitchFamily="18" charset="0"/>
            </a:endParaRPr>
          </a:p>
          <a:p>
            <a:pPr marL="190500" indent="-190500">
              <a:lnSpc>
                <a:spcPct val="105000"/>
              </a:lnSpc>
              <a:spcAft>
                <a:spcPts val="1100"/>
              </a:spcAft>
              <a:buSzPct val="100000"/>
              <a:buChar char="•"/>
            </a:pPr>
            <a:r>
              <a:rPr lang="en-US" sz="1450" dirty="0">
                <a:solidFill>
                  <a:srgbClr val="22303C"/>
                </a:solidFill>
                <a:latin typeface="Times New Roman" panose="02020603050405020304" pitchFamily="18" charset="0"/>
                <a:ea typeface="Calibri" pitchFamily="34" charset="-122"/>
                <a:cs typeface="Times New Roman" panose="02020603050405020304" pitchFamily="18" charset="0"/>
              </a:rPr>
              <a:t>ε-greedy exploration, decaying learning rate</a:t>
            </a:r>
            <a:endParaRPr lang="en-US" sz="1450" dirty="0">
              <a:latin typeface="Times New Roman" panose="02020603050405020304" pitchFamily="18" charset="0"/>
              <a:cs typeface="Times New Roman" panose="02020603050405020304" pitchFamily="18" charset="0"/>
            </a:endParaRPr>
          </a:p>
        </p:txBody>
      </p:sp>
      <p:sp>
        <p:nvSpPr>
          <p:cNvPr id="10" name="Shape 8"/>
          <p:cNvSpPr/>
          <p:nvPr/>
        </p:nvSpPr>
        <p:spPr>
          <a:xfrm>
            <a:off x="6309360" y="1965960"/>
            <a:ext cx="5349240" cy="3840480"/>
          </a:xfrm>
          <a:prstGeom prst="roundRect">
            <a:avLst>
              <a:gd name="adj" fmla="val 2381"/>
            </a:avLst>
          </a:prstGeom>
          <a:solidFill>
            <a:srgbClr val="F4F7FB"/>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1" name="Shape 9"/>
          <p:cNvSpPr/>
          <p:nvPr/>
        </p:nvSpPr>
        <p:spPr>
          <a:xfrm>
            <a:off x="6309360" y="1965960"/>
            <a:ext cx="5349240" cy="777240"/>
          </a:xfrm>
          <a:prstGeom prst="roundRect">
            <a:avLst>
              <a:gd name="adj" fmla="val 11765"/>
            </a:avLst>
          </a:prstGeom>
          <a:solidFill>
            <a:srgbClr val="1C7293"/>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2" name="Text 10"/>
          <p:cNvSpPr/>
          <p:nvPr/>
        </p:nvSpPr>
        <p:spPr>
          <a:xfrm>
            <a:off x="6629400" y="2084832"/>
            <a:ext cx="4754880" cy="365760"/>
          </a:xfrm>
          <a:prstGeom prst="rect">
            <a:avLst/>
          </a:prstGeom>
          <a:noFill/>
          <a:ln/>
        </p:spPr>
        <p:txBody>
          <a:bodyPr wrap="square" rtlCol="0" anchor="ctr"/>
          <a:lstStyle/>
          <a:p>
            <a:pPr marL="0" indent="0">
              <a:buNone/>
            </a:pPr>
            <a:r>
              <a:rPr lang="en-US" sz="2000" b="1" dirty="0">
                <a:solidFill>
                  <a:srgbClr val="FFFFFF"/>
                </a:solidFill>
                <a:latin typeface="Times New Roman" panose="02020603050405020304" pitchFamily="18" charset="0"/>
                <a:ea typeface="Cambria" pitchFamily="34" charset="-122"/>
                <a:cs typeface="Times New Roman" panose="02020603050405020304" pitchFamily="18" charset="0"/>
              </a:rPr>
              <a:t>Genetic algorithm</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6629400" y="2432304"/>
            <a:ext cx="4754880" cy="274320"/>
          </a:xfrm>
          <a:prstGeom prst="rect">
            <a:avLst/>
          </a:prstGeom>
          <a:noFill/>
          <a:ln/>
        </p:spPr>
        <p:txBody>
          <a:bodyPr wrap="square" rtlCol="0" anchor="ctr"/>
          <a:lstStyle/>
          <a:p>
            <a:pPr marL="0" indent="0">
              <a:buNone/>
            </a:pPr>
            <a:r>
              <a:rPr lang="en-US" sz="1250" dirty="0">
                <a:solidFill>
                  <a:srgbClr val="CADCFC"/>
                </a:solidFill>
                <a:latin typeface="Times New Roman" panose="02020603050405020304" pitchFamily="18" charset="0"/>
                <a:ea typeface="Calibri" pitchFamily="34" charset="-122"/>
                <a:cs typeface="Times New Roman" panose="02020603050405020304" pitchFamily="18" charset="0"/>
              </a:rPr>
              <a:t>black-box · population search</a:t>
            </a:r>
            <a:endParaRPr lang="en-US" sz="1250" dirty="0">
              <a:latin typeface="Times New Roman" panose="02020603050405020304" pitchFamily="18" charset="0"/>
              <a:cs typeface="Times New Roman" panose="02020603050405020304" pitchFamily="18" charset="0"/>
            </a:endParaRPr>
          </a:p>
        </p:txBody>
      </p:sp>
      <p:sp>
        <p:nvSpPr>
          <p:cNvPr id="14" name="Text 12"/>
          <p:cNvSpPr/>
          <p:nvPr/>
        </p:nvSpPr>
        <p:spPr>
          <a:xfrm>
            <a:off x="6629400" y="2926080"/>
            <a:ext cx="4754880" cy="2743200"/>
          </a:xfrm>
          <a:prstGeom prst="rect">
            <a:avLst/>
          </a:prstGeom>
          <a:noFill/>
          <a:ln/>
        </p:spPr>
        <p:txBody>
          <a:bodyPr wrap="square" rtlCol="0" anchor="ctr"/>
          <a:lstStyle/>
          <a:p>
            <a:pPr marL="190500" indent="-190500">
              <a:lnSpc>
                <a:spcPct val="105000"/>
              </a:lnSpc>
              <a:spcAft>
                <a:spcPts val="1100"/>
              </a:spcAft>
              <a:buSzPct val="100000"/>
              <a:buChar char="•"/>
            </a:pPr>
            <a:r>
              <a:rPr lang="en-US" sz="1450" dirty="0">
                <a:solidFill>
                  <a:srgbClr val="22303C"/>
                </a:solidFill>
                <a:latin typeface="Times New Roman" panose="02020603050405020304" pitchFamily="18" charset="0"/>
                <a:ea typeface="Calibri" pitchFamily="34" charset="-122"/>
                <a:cs typeface="Times New Roman" panose="02020603050405020304" pitchFamily="18" charset="0"/>
              </a:rPr>
              <a:t>Evolves a full policy; sees only total episode return</a:t>
            </a:r>
            <a:endParaRPr lang="en-US" sz="1450" dirty="0">
              <a:latin typeface="Times New Roman" panose="02020603050405020304" pitchFamily="18" charset="0"/>
              <a:cs typeface="Times New Roman" panose="02020603050405020304" pitchFamily="18" charset="0"/>
            </a:endParaRPr>
          </a:p>
          <a:p>
            <a:pPr marL="190500" indent="-190500">
              <a:lnSpc>
                <a:spcPct val="105000"/>
              </a:lnSpc>
              <a:spcAft>
                <a:spcPts val="1100"/>
              </a:spcAft>
              <a:buSzPct val="100000"/>
              <a:buChar char="•"/>
            </a:pPr>
            <a:r>
              <a:rPr lang="en-US" sz="1450" dirty="0">
                <a:solidFill>
                  <a:srgbClr val="22303C"/>
                </a:solidFill>
                <a:latin typeface="Times New Roman" panose="02020603050405020304" pitchFamily="18" charset="0"/>
                <a:ea typeface="Calibri" pitchFamily="34" charset="-122"/>
                <a:cs typeface="Times New Roman" panose="02020603050405020304" pitchFamily="18" charset="0"/>
              </a:rPr>
              <a:t>No gradient, no Bellman assumption — robust, parallel</a:t>
            </a:r>
            <a:endParaRPr lang="en-US" sz="1450" dirty="0">
              <a:latin typeface="Times New Roman" panose="02020603050405020304" pitchFamily="18" charset="0"/>
              <a:cs typeface="Times New Roman" panose="02020603050405020304" pitchFamily="18" charset="0"/>
            </a:endParaRPr>
          </a:p>
          <a:p>
            <a:pPr marL="190500" indent="-190500">
              <a:lnSpc>
                <a:spcPct val="105000"/>
              </a:lnSpc>
              <a:spcAft>
                <a:spcPts val="1100"/>
              </a:spcAft>
              <a:buSzPct val="100000"/>
              <a:buChar char="•"/>
            </a:pPr>
            <a:r>
              <a:rPr lang="en-US" sz="1450" dirty="0">
                <a:solidFill>
                  <a:srgbClr val="22303C"/>
                </a:solidFill>
                <a:latin typeface="Times New Roman" panose="02020603050405020304" pitchFamily="18" charset="0"/>
                <a:ea typeface="Calibri" pitchFamily="34" charset="-122"/>
                <a:cs typeface="Times New Roman" panose="02020603050405020304" pitchFamily="18" charset="0"/>
              </a:rPr>
              <a:t>Tournament selection · uniform crossover · mutation</a:t>
            </a:r>
            <a:endParaRPr lang="en-US" sz="1450" dirty="0">
              <a:latin typeface="Times New Roman" panose="02020603050405020304" pitchFamily="18" charset="0"/>
              <a:cs typeface="Times New Roman" panose="02020603050405020304" pitchFamily="18" charset="0"/>
            </a:endParaRPr>
          </a:p>
        </p:txBody>
      </p:sp>
      <p:sp>
        <p:nvSpPr>
          <p:cNvPr id="15" name="Text 13"/>
          <p:cNvSpPr/>
          <p:nvPr/>
        </p:nvSpPr>
        <p:spPr>
          <a:xfrm>
            <a:off x="548640" y="5989320"/>
            <a:ext cx="11064240" cy="365760"/>
          </a:xfrm>
          <a:prstGeom prst="rect">
            <a:avLst/>
          </a:prstGeom>
          <a:noFill/>
          <a:ln/>
        </p:spPr>
        <p:txBody>
          <a:bodyPr wrap="square" rtlCol="0" anchor="ctr"/>
          <a:lstStyle/>
          <a:p>
            <a:pPr marL="0" indent="0" algn="ctr">
              <a:buNone/>
            </a:pPr>
            <a:r>
              <a:rPr lang="en-US" sz="1350" i="1" dirty="0">
                <a:solidFill>
                  <a:srgbClr val="1E2761"/>
                </a:solidFill>
                <a:latin typeface="Times New Roman" panose="02020603050405020304" pitchFamily="18" charset="0"/>
                <a:ea typeface="Calibri" pitchFamily="34" charset="-122"/>
                <a:cs typeface="Times New Roman" panose="02020603050405020304" pitchFamily="18" charset="0"/>
              </a:rPr>
              <a:t>Same environment · same fitness · same policy space  →  differences reflect the search method alone</a:t>
            </a:r>
            <a:endParaRPr lang="en-US" sz="13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ellipse">
            <a:avLst/>
          </a:prstGeom>
          <a:solidFill>
            <a:srgbClr val="E8A33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777240" y="502920"/>
            <a:ext cx="7315200" cy="320040"/>
          </a:xfrm>
          <a:prstGeom prst="rect">
            <a:avLst/>
          </a:prstGeom>
          <a:noFill/>
          <a:ln/>
        </p:spPr>
        <p:txBody>
          <a:bodyPr wrap="square" rtlCol="0" anchor="ctr"/>
          <a:lstStyle/>
          <a:p>
            <a:pPr marL="0" indent="0">
              <a:buNone/>
            </a:pPr>
            <a:r>
              <a:rPr lang="en-US" sz="1300" b="1" kern="0" spc="200" dirty="0">
                <a:solidFill>
                  <a:srgbClr val="1C7293"/>
                </a:solidFill>
                <a:latin typeface="Times New Roman" panose="02020603050405020304" pitchFamily="18" charset="0"/>
                <a:ea typeface="Calibri" pitchFamily="34" charset="-122"/>
                <a:cs typeface="Times New Roman" panose="02020603050405020304" pitchFamily="18" charset="0"/>
              </a:rPr>
              <a:t>REINFORCEMENT LEARNING — RESULTS</a:t>
            </a:r>
            <a:endParaRPr lang="en-US" sz="1300" dirty="0">
              <a:latin typeface="Times New Roman" panose="02020603050405020304" pitchFamily="18" charset="0"/>
              <a:cs typeface="Times New Roman" panose="02020603050405020304" pitchFamily="18" charset="0"/>
            </a:endParaRPr>
          </a:p>
        </p:txBody>
      </p:sp>
      <p:sp>
        <p:nvSpPr>
          <p:cNvPr id="4" name="Text 2"/>
          <p:cNvSpPr/>
          <p:nvPr/>
        </p:nvSpPr>
        <p:spPr>
          <a:xfrm>
            <a:off x="548640" y="822960"/>
            <a:ext cx="11064240" cy="82296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Q-learning converges to a goodwill-aware policy</a:t>
            </a:r>
            <a:endParaRPr lang="en-US" sz="3000" dirty="0">
              <a:latin typeface="Times New Roman" panose="02020603050405020304" pitchFamily="18" charset="0"/>
              <a:cs typeface="Times New Roman" panose="02020603050405020304" pitchFamily="18" charset="0"/>
            </a:endParaRPr>
          </a:p>
        </p:txBody>
      </p:sp>
      <p:pic>
        <p:nvPicPr>
          <p:cNvPr id="5" name="Image 0" descr="fig/q_learning_convergence.png"/>
          <p:cNvPicPr>
            <a:picLocks noChangeAspect="1"/>
          </p:cNvPicPr>
          <p:nvPr/>
        </p:nvPicPr>
        <p:blipFill>
          <a:blip r:embed="rId3"/>
          <a:stretch>
            <a:fillRect/>
          </a:stretch>
        </p:blipFill>
        <p:spPr>
          <a:xfrm>
            <a:off x="548640" y="1965960"/>
            <a:ext cx="6400800" cy="1828800"/>
          </a:xfrm>
          <a:prstGeom prst="rect">
            <a:avLst/>
          </a:prstGeom>
        </p:spPr>
      </p:pic>
      <p:sp>
        <p:nvSpPr>
          <p:cNvPr id="6" name="Text 3"/>
          <p:cNvSpPr/>
          <p:nvPr/>
        </p:nvSpPr>
        <p:spPr>
          <a:xfrm>
            <a:off x="548640" y="4160520"/>
            <a:ext cx="6400800" cy="320040"/>
          </a:xfrm>
          <a:prstGeom prst="rect">
            <a:avLst/>
          </a:prstGeom>
          <a:noFill/>
          <a:ln/>
        </p:spPr>
        <p:txBody>
          <a:bodyPr wrap="square" rtlCol="0" anchor="ctr"/>
          <a:lstStyle/>
          <a:p>
            <a:pPr marL="0" indent="0" algn="ctr">
              <a:buNone/>
            </a:pPr>
            <a:r>
              <a:rPr lang="en-US" sz="1100" i="1" dirty="0">
                <a:solidFill>
                  <a:srgbClr val="5A6B76"/>
                </a:solidFill>
                <a:latin typeface="Times New Roman" panose="02020603050405020304" pitchFamily="18" charset="0"/>
                <a:ea typeface="Calibri" pitchFamily="34" charset="-122"/>
                <a:cs typeface="Times New Roman" panose="02020603050405020304" pitchFamily="18" charset="0"/>
              </a:rPr>
              <a:t>Fig. Convergence: return rises; TD error and policy churn fall to zero.</a:t>
            </a:r>
            <a:endParaRPr lang="en-US" sz="1100" dirty="0">
              <a:latin typeface="Times New Roman" panose="02020603050405020304" pitchFamily="18" charset="0"/>
              <a:cs typeface="Times New Roman" panose="02020603050405020304" pitchFamily="18" charset="0"/>
            </a:endParaRPr>
          </a:p>
        </p:txBody>
      </p:sp>
      <p:pic>
        <p:nvPicPr>
          <p:cNvPr id="7" name="Image 1" descr="fig/q_policy_heatmap.png"/>
          <p:cNvPicPr>
            <a:picLocks noChangeAspect="1"/>
          </p:cNvPicPr>
          <p:nvPr/>
        </p:nvPicPr>
        <p:blipFill>
          <a:blip r:embed="rId4"/>
          <a:stretch>
            <a:fillRect/>
          </a:stretch>
        </p:blipFill>
        <p:spPr>
          <a:xfrm>
            <a:off x="7315200" y="1965960"/>
            <a:ext cx="4297680" cy="2455817"/>
          </a:xfrm>
          <a:prstGeom prst="rect">
            <a:avLst/>
          </a:prstGeom>
        </p:spPr>
      </p:pic>
      <p:sp>
        <p:nvSpPr>
          <p:cNvPr id="8" name="Text 4"/>
          <p:cNvSpPr/>
          <p:nvPr/>
        </p:nvSpPr>
        <p:spPr>
          <a:xfrm>
            <a:off x="7315200" y="4892040"/>
            <a:ext cx="4297680" cy="320040"/>
          </a:xfrm>
          <a:prstGeom prst="rect">
            <a:avLst/>
          </a:prstGeom>
          <a:noFill/>
          <a:ln/>
        </p:spPr>
        <p:txBody>
          <a:bodyPr wrap="square" rtlCol="0" anchor="ctr"/>
          <a:lstStyle/>
          <a:p>
            <a:pPr marL="0" indent="0" algn="ctr">
              <a:buNone/>
            </a:pPr>
            <a:r>
              <a:rPr lang="en-US" sz="1100" i="1" dirty="0">
                <a:solidFill>
                  <a:srgbClr val="5A6B76"/>
                </a:solidFill>
                <a:latin typeface="Times New Roman" panose="02020603050405020304" pitchFamily="18" charset="0"/>
                <a:ea typeface="Calibri" pitchFamily="34" charset="-122"/>
                <a:cs typeface="Times New Roman" panose="02020603050405020304" pitchFamily="18" charset="0"/>
              </a:rPr>
              <a:t>Fig. Learned policy: surge rises with demand, eases as goodwill depletes.</a:t>
            </a:r>
            <a:endParaRPr lang="en-US" sz="1100" dirty="0">
              <a:latin typeface="Times New Roman" panose="02020603050405020304" pitchFamily="18" charset="0"/>
              <a:cs typeface="Times New Roman" panose="02020603050405020304" pitchFamily="18" charset="0"/>
            </a:endParaRPr>
          </a:p>
        </p:txBody>
      </p:sp>
      <p:sp>
        <p:nvSpPr>
          <p:cNvPr id="9" name="Text 5"/>
          <p:cNvSpPr/>
          <p:nvPr/>
        </p:nvSpPr>
        <p:spPr>
          <a:xfrm>
            <a:off x="548640" y="4754880"/>
            <a:ext cx="6400800" cy="1005840"/>
          </a:xfrm>
          <a:prstGeom prst="rect">
            <a:avLst/>
          </a:prstGeom>
          <a:noFill/>
          <a:ln/>
        </p:spPr>
        <p:txBody>
          <a:bodyPr wrap="square" rtlCol="0" anchor="ctr"/>
          <a:lstStyle/>
          <a:p>
            <a:pPr marL="0" indent="0">
              <a:lnSpc>
                <a:spcPct val="105000"/>
              </a:lnSpc>
              <a:buNone/>
            </a:pPr>
            <a:r>
              <a:rPr lang="en-US" sz="1500" dirty="0">
                <a:solidFill>
                  <a:srgbClr val="22303C"/>
                </a:solidFill>
                <a:latin typeface="Times New Roman" panose="02020603050405020304" pitchFamily="18" charset="0"/>
                <a:ea typeface="Calibri" pitchFamily="34" charset="-122"/>
                <a:cs typeface="Times New Roman" panose="02020603050405020304" pitchFamily="18" charset="0"/>
              </a:rPr>
              <a:t>The agent learned to </a:t>
            </a:r>
            <a:r>
              <a:rPr lang="en-US" sz="1500" b="1" dirty="0">
                <a:solidFill>
                  <a:srgbClr val="1E2761"/>
                </a:solidFill>
                <a:latin typeface="Times New Roman" panose="02020603050405020304" pitchFamily="18" charset="0"/>
                <a:ea typeface="Calibri" pitchFamily="34" charset="-122"/>
                <a:cs typeface="Times New Roman" panose="02020603050405020304" pitchFamily="18" charset="0"/>
              </a:rPr>
              <a:t>pulse</a:t>
            </a:r>
            <a:r>
              <a:rPr lang="en-US" sz="1500" dirty="0">
                <a:solidFill>
                  <a:srgbClr val="22303C"/>
                </a:solidFill>
                <a:latin typeface="Times New Roman" panose="02020603050405020304" pitchFamily="18" charset="0"/>
                <a:ea typeface="Calibri" pitchFamily="34" charset="-122"/>
                <a:cs typeface="Times New Roman" panose="02020603050405020304" pitchFamily="18" charset="0"/>
              </a:rPr>
              <a:t> — surge while goodwill is fresh, then rest to let it recover. No rule was hand-coded; it emerged from reward alone.</a:t>
            </a:r>
            <a:endParaRPr lang="en-US" sz="1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ellipse">
            <a:avLst/>
          </a:prstGeom>
          <a:solidFill>
            <a:srgbClr val="E8A33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777240" y="502920"/>
            <a:ext cx="7315200" cy="320040"/>
          </a:xfrm>
          <a:prstGeom prst="rect">
            <a:avLst/>
          </a:prstGeom>
          <a:noFill/>
          <a:ln/>
        </p:spPr>
        <p:txBody>
          <a:bodyPr wrap="square" rtlCol="0" anchor="ctr"/>
          <a:lstStyle/>
          <a:p>
            <a:pPr marL="0" indent="0">
              <a:buNone/>
            </a:pPr>
            <a:r>
              <a:rPr lang="en-US" sz="1300" b="1" kern="0" spc="200" dirty="0">
                <a:solidFill>
                  <a:srgbClr val="1C7293"/>
                </a:solidFill>
                <a:latin typeface="Times New Roman" panose="02020603050405020304" pitchFamily="18" charset="0"/>
                <a:ea typeface="Calibri" pitchFamily="34" charset="-122"/>
                <a:cs typeface="Times New Roman" panose="02020603050405020304" pitchFamily="18" charset="0"/>
              </a:rPr>
              <a:t>GENETIC ALGORITHM — RESULTS</a:t>
            </a:r>
            <a:endParaRPr lang="en-US" sz="1300" dirty="0">
              <a:latin typeface="Times New Roman" panose="02020603050405020304" pitchFamily="18" charset="0"/>
              <a:cs typeface="Times New Roman" panose="02020603050405020304" pitchFamily="18" charset="0"/>
            </a:endParaRPr>
          </a:p>
        </p:txBody>
      </p:sp>
      <p:sp>
        <p:nvSpPr>
          <p:cNvPr id="4" name="Text 2"/>
          <p:cNvSpPr/>
          <p:nvPr/>
        </p:nvSpPr>
        <p:spPr>
          <a:xfrm>
            <a:off x="548640" y="822960"/>
            <a:ext cx="11064240" cy="82296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Evolution reaches the same optimum, independently</a:t>
            </a:r>
            <a:endParaRPr lang="en-US" sz="3000" dirty="0">
              <a:latin typeface="Times New Roman" panose="02020603050405020304" pitchFamily="18" charset="0"/>
              <a:cs typeface="Times New Roman" panose="02020603050405020304" pitchFamily="18" charset="0"/>
            </a:endParaRPr>
          </a:p>
        </p:txBody>
      </p:sp>
      <p:pic>
        <p:nvPicPr>
          <p:cNvPr id="5" name="Image 0" descr="fig/ga_convergence.png"/>
          <p:cNvPicPr>
            <a:picLocks noChangeAspect="1"/>
          </p:cNvPicPr>
          <p:nvPr/>
        </p:nvPicPr>
        <p:blipFill>
          <a:blip r:embed="rId3"/>
          <a:stretch>
            <a:fillRect/>
          </a:stretch>
        </p:blipFill>
        <p:spPr>
          <a:xfrm>
            <a:off x="694944" y="1920240"/>
            <a:ext cx="6291072" cy="3931920"/>
          </a:xfrm>
          <a:prstGeom prst="rect">
            <a:avLst/>
          </a:prstGeom>
        </p:spPr>
      </p:pic>
      <p:sp>
        <p:nvSpPr>
          <p:cNvPr id="6" name="Text 3"/>
          <p:cNvSpPr/>
          <p:nvPr/>
        </p:nvSpPr>
        <p:spPr>
          <a:xfrm>
            <a:off x="548640" y="5943600"/>
            <a:ext cx="6583680" cy="320040"/>
          </a:xfrm>
          <a:prstGeom prst="rect">
            <a:avLst/>
          </a:prstGeom>
          <a:noFill/>
          <a:ln/>
        </p:spPr>
        <p:txBody>
          <a:bodyPr wrap="square" rtlCol="0" anchor="ctr"/>
          <a:lstStyle/>
          <a:p>
            <a:pPr marL="0" indent="0" algn="ctr">
              <a:buNone/>
            </a:pPr>
            <a:r>
              <a:rPr lang="en-US" sz="1100" i="1" dirty="0">
                <a:solidFill>
                  <a:srgbClr val="5A6B76"/>
                </a:solidFill>
                <a:latin typeface="Times New Roman" panose="02020603050405020304" pitchFamily="18" charset="0"/>
                <a:ea typeface="Calibri" pitchFamily="34" charset="-122"/>
                <a:cs typeface="Times New Roman" panose="02020603050405020304" pitchFamily="18" charset="0"/>
              </a:rPr>
              <a:t>Fig. Best &amp; mean fitness per generation, vs baselines and the oracle.</a:t>
            </a:r>
            <a:endParaRPr lang="en-US" sz="1100" dirty="0">
              <a:latin typeface="Times New Roman" panose="02020603050405020304" pitchFamily="18" charset="0"/>
              <a:cs typeface="Times New Roman" panose="02020603050405020304" pitchFamily="18" charset="0"/>
            </a:endParaRPr>
          </a:p>
        </p:txBody>
      </p:sp>
      <p:sp>
        <p:nvSpPr>
          <p:cNvPr id="7" name="Shape 4"/>
          <p:cNvSpPr/>
          <p:nvPr/>
        </p:nvSpPr>
        <p:spPr>
          <a:xfrm>
            <a:off x="7406640" y="2103120"/>
            <a:ext cx="4206240" cy="1691640"/>
          </a:xfrm>
          <a:prstGeom prst="roundRect">
            <a:avLst>
              <a:gd name="adj" fmla="val 5405"/>
            </a:avLst>
          </a:prstGeom>
          <a:solidFill>
            <a:srgbClr val="F4F7FB"/>
          </a:solidFill>
          <a:ln/>
        </p:spPr>
        <p:txBody>
          <a:bodyPr/>
          <a:lstStyle/>
          <a:p>
            <a:endParaRPr lang="en-US">
              <a:latin typeface="Times New Roman" panose="02020603050405020304" pitchFamily="18" charset="0"/>
              <a:cs typeface="Times New Roman" panose="02020603050405020304" pitchFamily="18" charset="0"/>
            </a:endParaRPr>
          </a:p>
        </p:txBody>
      </p:sp>
      <p:sp>
        <p:nvSpPr>
          <p:cNvPr id="8" name="Text 5"/>
          <p:cNvSpPr/>
          <p:nvPr/>
        </p:nvSpPr>
        <p:spPr>
          <a:xfrm>
            <a:off x="7406640" y="2286000"/>
            <a:ext cx="4206240" cy="822960"/>
          </a:xfrm>
          <a:prstGeom prst="rect">
            <a:avLst/>
          </a:prstGeom>
          <a:noFill/>
          <a:ln/>
        </p:spPr>
        <p:txBody>
          <a:bodyPr wrap="square" rtlCol="0" anchor="ctr"/>
          <a:lstStyle/>
          <a:p>
            <a:pPr marL="0" indent="0" algn="ctr">
              <a:buNone/>
            </a:pPr>
            <a:r>
              <a:rPr lang="en-US" sz="4600" b="1" dirty="0">
                <a:solidFill>
                  <a:srgbClr val="1C7293"/>
                </a:solidFill>
                <a:latin typeface="Times New Roman" panose="02020603050405020304" pitchFamily="18" charset="0"/>
                <a:ea typeface="Cambria" pitchFamily="34" charset="-122"/>
                <a:cs typeface="Times New Roman" panose="02020603050405020304" pitchFamily="18" charset="0"/>
              </a:rPr>
              <a:t>99%</a:t>
            </a:r>
            <a:endParaRPr lang="en-US" sz="4600" dirty="0">
              <a:latin typeface="Times New Roman" panose="02020603050405020304" pitchFamily="18" charset="0"/>
              <a:cs typeface="Times New Roman" panose="02020603050405020304" pitchFamily="18" charset="0"/>
            </a:endParaRPr>
          </a:p>
        </p:txBody>
      </p:sp>
      <p:sp>
        <p:nvSpPr>
          <p:cNvPr id="9" name="Text 6"/>
          <p:cNvSpPr/>
          <p:nvPr/>
        </p:nvSpPr>
        <p:spPr>
          <a:xfrm>
            <a:off x="7406640" y="3200400"/>
            <a:ext cx="4206240" cy="457200"/>
          </a:xfrm>
          <a:prstGeom prst="rect">
            <a:avLst/>
          </a:prstGeom>
          <a:noFill/>
          <a:ln/>
        </p:spPr>
        <p:txBody>
          <a:bodyPr wrap="square" rtlCol="0" anchor="ctr"/>
          <a:lstStyle/>
          <a:p>
            <a:pPr marL="0" indent="0" algn="ctr">
              <a:buNone/>
            </a:pPr>
            <a:r>
              <a:rPr lang="en-US" sz="1400" dirty="0">
                <a:solidFill>
                  <a:srgbClr val="22303C"/>
                </a:solidFill>
                <a:latin typeface="Times New Roman" panose="02020603050405020304" pitchFamily="18" charset="0"/>
                <a:ea typeface="Calibri" pitchFamily="34" charset="-122"/>
                <a:cs typeface="Times New Roman" panose="02020603050405020304" pitchFamily="18" charset="0"/>
              </a:rPr>
              <a:t>of final fitness by generation 27</a:t>
            </a:r>
            <a:endParaRPr lang="en-US" sz="1400" dirty="0">
              <a:latin typeface="Times New Roman" panose="02020603050405020304" pitchFamily="18" charset="0"/>
              <a:cs typeface="Times New Roman" panose="02020603050405020304" pitchFamily="18" charset="0"/>
            </a:endParaRPr>
          </a:p>
        </p:txBody>
      </p:sp>
      <p:sp>
        <p:nvSpPr>
          <p:cNvPr id="10" name="Text 7"/>
          <p:cNvSpPr/>
          <p:nvPr/>
        </p:nvSpPr>
        <p:spPr>
          <a:xfrm>
            <a:off x="7406640" y="4023360"/>
            <a:ext cx="4206240" cy="1828800"/>
          </a:xfrm>
          <a:prstGeom prst="rect">
            <a:avLst/>
          </a:prstGeom>
          <a:noFill/>
          <a:ln/>
        </p:spPr>
        <p:txBody>
          <a:bodyPr wrap="square" rtlCol="0" anchor="ctr"/>
          <a:lstStyle/>
          <a:p>
            <a:pPr marL="190500" indent="-190500">
              <a:lnSpc>
                <a:spcPct val="105000"/>
              </a:lnSpc>
              <a:spcAft>
                <a:spcPts val="1000"/>
              </a:spcAft>
              <a:buSzPct val="100000"/>
              <a:buChar char="•"/>
            </a:pPr>
            <a:r>
              <a:rPr lang="en-US" sz="1500" dirty="0">
                <a:solidFill>
                  <a:srgbClr val="22303C"/>
                </a:solidFill>
                <a:latin typeface="Times New Roman" panose="02020603050405020304" pitchFamily="18" charset="0"/>
                <a:ea typeface="Calibri" pitchFamily="34" charset="-122"/>
                <a:cs typeface="Times New Roman" panose="02020603050405020304" pitchFamily="18" charset="0"/>
              </a:rPr>
              <a:t>Converges to the oracle ceiling</a:t>
            </a:r>
            <a:endParaRPr lang="en-US" sz="1500" dirty="0">
              <a:latin typeface="Times New Roman" panose="02020603050405020304" pitchFamily="18" charset="0"/>
              <a:cs typeface="Times New Roman" panose="02020603050405020304" pitchFamily="18" charset="0"/>
            </a:endParaRPr>
          </a:p>
          <a:p>
            <a:pPr marL="190500" indent="-190500">
              <a:lnSpc>
                <a:spcPct val="105000"/>
              </a:lnSpc>
              <a:spcAft>
                <a:spcPts val="1000"/>
              </a:spcAft>
              <a:buSzPct val="100000"/>
              <a:buChar char="•"/>
            </a:pPr>
            <a:r>
              <a:rPr lang="en-US" sz="1500" dirty="0">
                <a:solidFill>
                  <a:srgbClr val="22303C"/>
                </a:solidFill>
                <a:latin typeface="Times New Roman" panose="02020603050405020304" pitchFamily="18" charset="0"/>
                <a:ea typeface="Calibri" pitchFamily="34" charset="-122"/>
                <a:cs typeface="Times New Roman" panose="02020603050405020304" pitchFamily="18" charset="0"/>
              </a:rPr>
              <a:t>Independently finds the same pulsing structure as RL</a:t>
            </a:r>
            <a:endParaRPr lang="en-US" sz="1500" dirty="0">
              <a:latin typeface="Times New Roman" panose="02020603050405020304" pitchFamily="18" charset="0"/>
              <a:cs typeface="Times New Roman" panose="02020603050405020304" pitchFamily="18" charset="0"/>
            </a:endParaRPr>
          </a:p>
          <a:p>
            <a:pPr marL="190500" indent="-190500">
              <a:lnSpc>
                <a:spcPct val="105000"/>
              </a:lnSpc>
              <a:buSzPct val="100000"/>
              <a:buChar char="•"/>
            </a:pPr>
            <a:r>
              <a:rPr lang="en-US" sz="1500" dirty="0">
                <a:solidFill>
                  <a:srgbClr val="1E2761"/>
                </a:solidFill>
                <a:latin typeface="Times New Roman" panose="02020603050405020304" pitchFamily="18" charset="0"/>
                <a:ea typeface="Calibri" pitchFamily="34" charset="-122"/>
                <a:cs typeface="Times New Roman" panose="02020603050405020304" pitchFamily="18" charset="0"/>
              </a:rPr>
              <a:t>Two paradigms agreeing = strong validation</a:t>
            </a:r>
            <a:endParaRPr lang="en-US" sz="1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ellipse">
            <a:avLst/>
          </a:prstGeom>
          <a:solidFill>
            <a:srgbClr val="E8A33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777240" y="502920"/>
            <a:ext cx="7315200" cy="320040"/>
          </a:xfrm>
          <a:prstGeom prst="rect">
            <a:avLst/>
          </a:prstGeom>
          <a:noFill/>
          <a:ln/>
        </p:spPr>
        <p:txBody>
          <a:bodyPr wrap="square" rtlCol="0" anchor="ctr"/>
          <a:lstStyle/>
          <a:p>
            <a:pPr marL="0" indent="0">
              <a:buNone/>
            </a:pPr>
            <a:r>
              <a:rPr lang="en-US" sz="1300" b="1" kern="0" spc="200" dirty="0">
                <a:solidFill>
                  <a:srgbClr val="1C7293"/>
                </a:solidFill>
                <a:latin typeface="Times New Roman" panose="02020603050405020304" pitchFamily="18" charset="0"/>
                <a:ea typeface="Calibri" pitchFamily="34" charset="-122"/>
                <a:cs typeface="Times New Roman" panose="02020603050405020304" pitchFamily="18" charset="0"/>
              </a:rPr>
              <a:t>BASELINE COMPARISON</a:t>
            </a:r>
            <a:endParaRPr lang="en-US" sz="1300" dirty="0">
              <a:latin typeface="Times New Roman" panose="02020603050405020304" pitchFamily="18" charset="0"/>
              <a:cs typeface="Times New Roman" panose="02020603050405020304" pitchFamily="18" charset="0"/>
            </a:endParaRPr>
          </a:p>
        </p:txBody>
      </p:sp>
      <p:sp>
        <p:nvSpPr>
          <p:cNvPr id="4" name="Text 2"/>
          <p:cNvSpPr/>
          <p:nvPr/>
        </p:nvSpPr>
        <p:spPr>
          <a:xfrm>
            <a:off x="548640" y="822960"/>
            <a:ext cx="11064240" cy="82296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Both learners beat every simple baseline</a:t>
            </a:r>
            <a:endParaRPr lang="en-US" sz="3000" dirty="0">
              <a:latin typeface="Times New Roman" panose="02020603050405020304" pitchFamily="18" charset="0"/>
              <a:cs typeface="Times New Roman" panose="02020603050405020304" pitchFamily="18" charset="0"/>
            </a:endParaRPr>
          </a:p>
        </p:txBody>
      </p:sp>
      <p:pic>
        <p:nvPicPr>
          <p:cNvPr id="5" name="Image 0" descr="fig/comparison_bar.png"/>
          <p:cNvPicPr>
            <a:picLocks noChangeAspect="1"/>
          </p:cNvPicPr>
          <p:nvPr/>
        </p:nvPicPr>
        <p:blipFill>
          <a:blip r:embed="rId3"/>
          <a:stretch>
            <a:fillRect/>
          </a:stretch>
        </p:blipFill>
        <p:spPr>
          <a:xfrm>
            <a:off x="548640" y="2075180"/>
            <a:ext cx="6766560" cy="3759200"/>
          </a:xfrm>
          <a:prstGeom prst="rect">
            <a:avLst/>
          </a:prstGeom>
        </p:spPr>
      </p:pic>
      <p:sp>
        <p:nvSpPr>
          <p:cNvPr id="6" name="Text 3"/>
          <p:cNvSpPr/>
          <p:nvPr/>
        </p:nvSpPr>
        <p:spPr>
          <a:xfrm>
            <a:off x="548640" y="5989320"/>
            <a:ext cx="6766560" cy="320040"/>
          </a:xfrm>
          <a:prstGeom prst="rect">
            <a:avLst/>
          </a:prstGeom>
          <a:noFill/>
          <a:ln/>
        </p:spPr>
        <p:txBody>
          <a:bodyPr wrap="square" rtlCol="0" anchor="ctr"/>
          <a:lstStyle/>
          <a:p>
            <a:pPr marL="0" indent="0" algn="ctr">
              <a:buNone/>
            </a:pPr>
            <a:r>
              <a:rPr lang="en-US" sz="1100" i="1" dirty="0">
                <a:solidFill>
                  <a:srgbClr val="5A6B76"/>
                </a:solidFill>
                <a:latin typeface="Times New Roman" panose="02020603050405020304" pitchFamily="18" charset="0"/>
                <a:ea typeface="Calibri" pitchFamily="34" charset="-122"/>
                <a:cs typeface="Times New Roman" panose="02020603050405020304" pitchFamily="18" charset="0"/>
              </a:rPr>
              <a:t>Fig. Mean return per episode, noisy rollouts with 95% CIs.</a:t>
            </a:r>
            <a:endParaRPr lang="en-US" sz="1100" dirty="0">
              <a:latin typeface="Times New Roman" panose="02020603050405020304" pitchFamily="18" charset="0"/>
              <a:cs typeface="Times New Roman" panose="02020603050405020304" pitchFamily="18" charset="0"/>
            </a:endParaRPr>
          </a:p>
        </p:txBody>
      </p:sp>
      <p:sp>
        <p:nvSpPr>
          <p:cNvPr id="7" name="Text 4"/>
          <p:cNvSpPr/>
          <p:nvPr/>
        </p:nvSpPr>
        <p:spPr>
          <a:xfrm>
            <a:off x="7498080" y="2057400"/>
            <a:ext cx="4114800" cy="731520"/>
          </a:xfrm>
          <a:prstGeom prst="rect">
            <a:avLst/>
          </a:prstGeom>
          <a:noFill/>
          <a:ln/>
        </p:spPr>
        <p:txBody>
          <a:bodyPr wrap="square" rtlCol="0" anchor="ctr"/>
          <a:lstStyle/>
          <a:p>
            <a:pPr marL="0" indent="0">
              <a:buNone/>
            </a:pPr>
            <a:r>
              <a:rPr lang="en-US" sz="4000" b="1" dirty="0">
                <a:solidFill>
                  <a:srgbClr val="1E2761"/>
                </a:solidFill>
                <a:latin typeface="Times New Roman" panose="02020603050405020304" pitchFamily="18" charset="0"/>
                <a:ea typeface="Cambria" pitchFamily="34" charset="-122"/>
                <a:cs typeface="Times New Roman" panose="02020603050405020304" pitchFamily="18" charset="0"/>
              </a:rPr>
              <a:t>+9.6%</a:t>
            </a:r>
            <a:endParaRPr lang="en-US" sz="4000" dirty="0">
              <a:latin typeface="Times New Roman" panose="02020603050405020304" pitchFamily="18" charset="0"/>
              <a:cs typeface="Times New Roman" panose="02020603050405020304" pitchFamily="18" charset="0"/>
            </a:endParaRPr>
          </a:p>
        </p:txBody>
      </p:sp>
      <p:sp>
        <p:nvSpPr>
          <p:cNvPr id="8" name="Text 5"/>
          <p:cNvSpPr/>
          <p:nvPr/>
        </p:nvSpPr>
        <p:spPr>
          <a:xfrm>
            <a:off x="7498080" y="2743200"/>
            <a:ext cx="4114800" cy="365760"/>
          </a:xfrm>
          <a:prstGeom prst="rect">
            <a:avLst/>
          </a:prstGeom>
          <a:noFill/>
          <a:ln/>
        </p:spPr>
        <p:txBody>
          <a:bodyPr wrap="square" rtlCol="0" anchor="ctr"/>
          <a:lstStyle/>
          <a:p>
            <a:pPr marL="0" indent="0">
              <a:buNone/>
            </a:pPr>
            <a:r>
              <a:rPr lang="en-US" sz="1350" dirty="0">
                <a:solidFill>
                  <a:srgbClr val="22303C"/>
                </a:solidFill>
                <a:latin typeface="Times New Roman" panose="02020603050405020304" pitchFamily="18" charset="0"/>
                <a:ea typeface="Calibri" pitchFamily="34" charset="-122"/>
                <a:cs typeface="Times New Roman" panose="02020603050405020304" pitchFamily="18" charset="0"/>
              </a:rPr>
              <a:t>Q-learning vs fixed pricing</a:t>
            </a:r>
            <a:endParaRPr lang="en-US" sz="1350" dirty="0">
              <a:latin typeface="Times New Roman" panose="02020603050405020304" pitchFamily="18" charset="0"/>
              <a:cs typeface="Times New Roman" panose="02020603050405020304" pitchFamily="18" charset="0"/>
            </a:endParaRPr>
          </a:p>
        </p:txBody>
      </p:sp>
      <p:sp>
        <p:nvSpPr>
          <p:cNvPr id="9" name="Text 6"/>
          <p:cNvSpPr/>
          <p:nvPr/>
        </p:nvSpPr>
        <p:spPr>
          <a:xfrm>
            <a:off x="7498080" y="3246120"/>
            <a:ext cx="4114800" cy="731520"/>
          </a:xfrm>
          <a:prstGeom prst="rect">
            <a:avLst/>
          </a:prstGeom>
          <a:noFill/>
          <a:ln/>
        </p:spPr>
        <p:txBody>
          <a:bodyPr wrap="square" rtlCol="0" anchor="ctr"/>
          <a:lstStyle/>
          <a:p>
            <a:pPr marL="0" indent="0">
              <a:buNone/>
            </a:pPr>
            <a:r>
              <a:rPr lang="en-US" sz="4000" b="1" dirty="0">
                <a:solidFill>
                  <a:srgbClr val="1C7293"/>
                </a:solidFill>
                <a:latin typeface="Times New Roman" panose="02020603050405020304" pitchFamily="18" charset="0"/>
                <a:ea typeface="Cambria" pitchFamily="34" charset="-122"/>
                <a:cs typeface="Times New Roman" panose="02020603050405020304" pitchFamily="18" charset="0"/>
              </a:rPr>
              <a:t>+10.0%</a:t>
            </a:r>
            <a:endParaRPr lang="en-US" sz="4000" dirty="0">
              <a:latin typeface="Times New Roman" panose="02020603050405020304" pitchFamily="18" charset="0"/>
              <a:cs typeface="Times New Roman" panose="02020603050405020304" pitchFamily="18" charset="0"/>
            </a:endParaRPr>
          </a:p>
        </p:txBody>
      </p:sp>
      <p:sp>
        <p:nvSpPr>
          <p:cNvPr id="10" name="Text 7"/>
          <p:cNvSpPr/>
          <p:nvPr/>
        </p:nvSpPr>
        <p:spPr>
          <a:xfrm>
            <a:off x="7498080" y="3931920"/>
            <a:ext cx="4114800" cy="365760"/>
          </a:xfrm>
          <a:prstGeom prst="rect">
            <a:avLst/>
          </a:prstGeom>
          <a:noFill/>
          <a:ln/>
        </p:spPr>
        <p:txBody>
          <a:bodyPr wrap="square" rtlCol="0" anchor="ctr"/>
          <a:lstStyle/>
          <a:p>
            <a:pPr marL="0" indent="0">
              <a:buNone/>
            </a:pPr>
            <a:r>
              <a:rPr lang="en-US" sz="1350" dirty="0">
                <a:solidFill>
                  <a:srgbClr val="22303C"/>
                </a:solidFill>
                <a:latin typeface="Times New Roman" panose="02020603050405020304" pitchFamily="18" charset="0"/>
                <a:ea typeface="Calibri" pitchFamily="34" charset="-122"/>
                <a:cs typeface="Times New Roman" panose="02020603050405020304" pitchFamily="18" charset="0"/>
              </a:rPr>
              <a:t>Genetic algorithm — matches oracle</a:t>
            </a:r>
            <a:endParaRPr lang="en-US" sz="1350" dirty="0">
              <a:latin typeface="Times New Roman" panose="02020603050405020304" pitchFamily="18" charset="0"/>
              <a:cs typeface="Times New Roman" panose="02020603050405020304" pitchFamily="18" charset="0"/>
            </a:endParaRPr>
          </a:p>
        </p:txBody>
      </p:sp>
      <p:sp>
        <p:nvSpPr>
          <p:cNvPr id="11" name="Text 8"/>
          <p:cNvSpPr/>
          <p:nvPr/>
        </p:nvSpPr>
        <p:spPr>
          <a:xfrm>
            <a:off x="7498080" y="4434840"/>
            <a:ext cx="4114800" cy="731520"/>
          </a:xfrm>
          <a:prstGeom prst="rect">
            <a:avLst/>
          </a:prstGeom>
          <a:noFill/>
          <a:ln/>
        </p:spPr>
        <p:txBody>
          <a:bodyPr wrap="square" rtlCol="0" anchor="ctr"/>
          <a:lstStyle/>
          <a:p>
            <a:pPr marL="0" indent="0">
              <a:buNone/>
            </a:pPr>
            <a:r>
              <a:rPr lang="en-US" sz="4000" b="1" dirty="0">
                <a:solidFill>
                  <a:srgbClr val="E8A33D"/>
                </a:solidFill>
                <a:latin typeface="Times New Roman" panose="02020603050405020304" pitchFamily="18" charset="0"/>
                <a:ea typeface="Cambria" pitchFamily="34" charset="-122"/>
                <a:cs typeface="Times New Roman" panose="02020603050405020304" pitchFamily="18" charset="0"/>
              </a:rPr>
              <a:t>p &lt; 0.01</a:t>
            </a:r>
            <a:endParaRPr lang="en-US" sz="4000" dirty="0">
              <a:latin typeface="Times New Roman" panose="02020603050405020304" pitchFamily="18" charset="0"/>
              <a:cs typeface="Times New Roman" panose="02020603050405020304" pitchFamily="18" charset="0"/>
            </a:endParaRPr>
          </a:p>
        </p:txBody>
      </p:sp>
      <p:sp>
        <p:nvSpPr>
          <p:cNvPr id="12" name="Text 9"/>
          <p:cNvSpPr/>
          <p:nvPr/>
        </p:nvSpPr>
        <p:spPr>
          <a:xfrm>
            <a:off x="7498080" y="5120640"/>
            <a:ext cx="4114800" cy="365760"/>
          </a:xfrm>
          <a:prstGeom prst="rect">
            <a:avLst/>
          </a:prstGeom>
          <a:noFill/>
          <a:ln/>
        </p:spPr>
        <p:txBody>
          <a:bodyPr wrap="square" rtlCol="0" anchor="ctr"/>
          <a:lstStyle/>
          <a:p>
            <a:pPr marL="0" indent="0">
              <a:buNone/>
            </a:pPr>
            <a:r>
              <a:rPr lang="en-US" sz="1350" dirty="0">
                <a:solidFill>
                  <a:srgbClr val="22303C"/>
                </a:solidFill>
                <a:latin typeface="Times New Roman" panose="02020603050405020304" pitchFamily="18" charset="0"/>
                <a:ea typeface="Calibri" pitchFamily="34" charset="-122"/>
                <a:cs typeface="Times New Roman" panose="02020603050405020304" pitchFamily="18" charset="0"/>
              </a:rPr>
              <a:t>paired test: +1,108 / +1,191 per episode</a:t>
            </a:r>
            <a:endParaRPr lang="en-US" sz="1350" dirty="0">
              <a:latin typeface="Times New Roman" panose="02020603050405020304" pitchFamily="18" charset="0"/>
              <a:cs typeface="Times New Roman" panose="02020603050405020304" pitchFamily="18" charset="0"/>
            </a:endParaRPr>
          </a:p>
        </p:txBody>
      </p:sp>
      <p:sp>
        <p:nvSpPr>
          <p:cNvPr id="13" name="Text 10"/>
          <p:cNvSpPr/>
          <p:nvPr/>
        </p:nvSpPr>
        <p:spPr>
          <a:xfrm>
            <a:off x="7498080" y="5440680"/>
            <a:ext cx="4114800" cy="640080"/>
          </a:xfrm>
          <a:prstGeom prst="rect">
            <a:avLst/>
          </a:prstGeom>
          <a:noFill/>
          <a:ln/>
        </p:spPr>
        <p:txBody>
          <a:bodyPr wrap="square" rtlCol="0" anchor="ctr"/>
          <a:lstStyle/>
          <a:p>
            <a:pPr marL="0" indent="0">
              <a:buNone/>
            </a:pPr>
            <a:r>
              <a:rPr lang="en-US" sz="1350" i="1" dirty="0">
                <a:solidFill>
                  <a:srgbClr val="5A6B76"/>
                </a:solidFill>
                <a:latin typeface="Times New Roman" panose="02020603050405020304" pitchFamily="18" charset="0"/>
                <a:ea typeface="Calibri" pitchFamily="34" charset="-122"/>
                <a:cs typeface="Times New Roman" panose="02020603050405020304" pitchFamily="18" charset="0"/>
              </a:rPr>
              <a:t>Ranking: GA ≥ Q-learning &gt; rule-based &gt; fixed &gt; always-max</a:t>
            </a:r>
            <a:endParaRPr lang="en-US" sz="13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ellipse">
            <a:avLst/>
          </a:prstGeom>
          <a:solidFill>
            <a:srgbClr val="E8A33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777240" y="502920"/>
            <a:ext cx="7315200" cy="320040"/>
          </a:xfrm>
          <a:prstGeom prst="rect">
            <a:avLst/>
          </a:prstGeom>
          <a:noFill/>
          <a:ln/>
        </p:spPr>
        <p:txBody>
          <a:bodyPr wrap="square" rtlCol="0" anchor="ctr"/>
          <a:lstStyle/>
          <a:p>
            <a:pPr marL="0" indent="0">
              <a:buNone/>
            </a:pPr>
            <a:r>
              <a:rPr lang="en-US" sz="1300" b="1" kern="0" spc="200" dirty="0">
                <a:solidFill>
                  <a:srgbClr val="1C7293"/>
                </a:solidFill>
                <a:latin typeface="Times New Roman" panose="02020603050405020304" pitchFamily="18" charset="0"/>
                <a:ea typeface="Calibri" pitchFamily="34" charset="-122"/>
                <a:cs typeface="Times New Roman" panose="02020603050405020304" pitchFamily="18" charset="0"/>
              </a:rPr>
              <a:t>ROBUSTNESS</a:t>
            </a:r>
            <a:endParaRPr lang="en-US" sz="1300" dirty="0">
              <a:latin typeface="Times New Roman" panose="02020603050405020304" pitchFamily="18" charset="0"/>
              <a:cs typeface="Times New Roman" panose="02020603050405020304" pitchFamily="18" charset="0"/>
            </a:endParaRPr>
          </a:p>
        </p:txBody>
      </p:sp>
      <p:sp>
        <p:nvSpPr>
          <p:cNvPr id="4" name="Text 2"/>
          <p:cNvSpPr/>
          <p:nvPr/>
        </p:nvSpPr>
        <p:spPr>
          <a:xfrm>
            <a:off x="548640" y="822960"/>
            <a:ext cx="11064240" cy="822960"/>
          </a:xfrm>
          <a:prstGeom prst="rect">
            <a:avLst/>
          </a:prstGeom>
          <a:noFill/>
          <a:ln/>
        </p:spPr>
        <p:txBody>
          <a:bodyPr wrap="square" rtlCol="0" anchor="ctr"/>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The result survives the assumption being wrong</a:t>
            </a:r>
            <a:endParaRPr lang="en-US" sz="3000" dirty="0">
              <a:latin typeface="Times New Roman" panose="02020603050405020304" pitchFamily="18" charset="0"/>
              <a:cs typeface="Times New Roman" panose="02020603050405020304" pitchFamily="18" charset="0"/>
            </a:endParaRPr>
          </a:p>
        </p:txBody>
      </p:sp>
      <p:pic>
        <p:nvPicPr>
          <p:cNvPr id="5" name="Image 0" descr="fig/sensitivity_lambda.png"/>
          <p:cNvPicPr>
            <a:picLocks noChangeAspect="1"/>
          </p:cNvPicPr>
          <p:nvPr/>
        </p:nvPicPr>
        <p:blipFill>
          <a:blip r:embed="rId3"/>
          <a:stretch>
            <a:fillRect/>
          </a:stretch>
        </p:blipFill>
        <p:spPr>
          <a:xfrm>
            <a:off x="749808" y="1965960"/>
            <a:ext cx="6364224" cy="3977640"/>
          </a:xfrm>
          <a:prstGeom prst="rect">
            <a:avLst/>
          </a:prstGeom>
        </p:spPr>
      </p:pic>
      <p:sp>
        <p:nvSpPr>
          <p:cNvPr id="6" name="Text 3"/>
          <p:cNvSpPr/>
          <p:nvPr/>
        </p:nvSpPr>
        <p:spPr>
          <a:xfrm>
            <a:off x="548640" y="5989320"/>
            <a:ext cx="6766560" cy="320040"/>
          </a:xfrm>
          <a:prstGeom prst="rect">
            <a:avLst/>
          </a:prstGeom>
          <a:noFill/>
          <a:ln/>
        </p:spPr>
        <p:txBody>
          <a:bodyPr wrap="square" rtlCol="0" anchor="ctr"/>
          <a:lstStyle/>
          <a:p>
            <a:pPr marL="0" indent="0" algn="ctr">
              <a:buNone/>
            </a:pPr>
            <a:r>
              <a:rPr lang="en-US" sz="1100" i="1" dirty="0">
                <a:solidFill>
                  <a:srgbClr val="5A6B76"/>
                </a:solidFill>
                <a:latin typeface="Times New Roman" panose="02020603050405020304" pitchFamily="18" charset="0"/>
                <a:ea typeface="Calibri" pitchFamily="34" charset="-122"/>
                <a:cs typeface="Times New Roman" panose="02020603050405020304" pitchFamily="18" charset="0"/>
              </a:rPr>
              <a:t>Fig. Gain over fixed pricing as the true elasticity is scaled ±20%.</a:t>
            </a:r>
            <a:endParaRPr lang="en-US" sz="1100" dirty="0">
              <a:latin typeface="Times New Roman" panose="02020603050405020304" pitchFamily="18" charset="0"/>
              <a:cs typeface="Times New Roman" panose="02020603050405020304" pitchFamily="18" charset="0"/>
            </a:endParaRPr>
          </a:p>
        </p:txBody>
      </p:sp>
      <p:sp>
        <p:nvSpPr>
          <p:cNvPr id="7" name="Text 4"/>
          <p:cNvSpPr/>
          <p:nvPr/>
        </p:nvSpPr>
        <p:spPr>
          <a:xfrm>
            <a:off x="7498080" y="2148840"/>
            <a:ext cx="4114800" cy="3657600"/>
          </a:xfrm>
          <a:prstGeom prst="rect">
            <a:avLst/>
          </a:prstGeom>
          <a:noFill/>
          <a:ln/>
        </p:spPr>
        <p:txBody>
          <a:bodyPr wrap="square" rtlCol="0" anchor="ctr"/>
          <a:lstStyle/>
          <a:p>
            <a:pPr marL="0" indent="0">
              <a:lnSpc>
                <a:spcPct val="105000"/>
              </a:lnSpc>
              <a:spcAft>
                <a:spcPts val="1200"/>
              </a:spcAft>
              <a:buNone/>
            </a:pPr>
            <a:r>
              <a:rPr lang="en-US" sz="1500" b="1" dirty="0">
                <a:solidFill>
                  <a:srgbClr val="1E2761"/>
                </a:solidFill>
                <a:latin typeface="Times New Roman" panose="02020603050405020304" pitchFamily="18" charset="0"/>
                <a:ea typeface="Calibri" pitchFamily="34" charset="-122"/>
                <a:cs typeface="Times New Roman" panose="02020603050405020304" pitchFamily="18" charset="0"/>
              </a:rPr>
              <a:t>Elasticity is imposed, so we test mis-specification:</a:t>
            </a:r>
            <a:endParaRPr lang="en-US" sz="1500" dirty="0">
              <a:latin typeface="Times New Roman" panose="02020603050405020304" pitchFamily="18" charset="0"/>
              <a:cs typeface="Times New Roman" panose="02020603050405020304" pitchFamily="18" charset="0"/>
            </a:endParaRPr>
          </a:p>
          <a:p>
            <a:pPr marL="190500" indent="-190500">
              <a:lnSpc>
                <a:spcPct val="105000"/>
              </a:lnSpc>
              <a:spcAft>
                <a:spcPts val="1200"/>
              </a:spcAft>
              <a:buSzPct val="100000"/>
              <a:buChar char="•"/>
            </a:pPr>
            <a:r>
              <a:rPr lang="en-US" sz="1500" dirty="0">
                <a:solidFill>
                  <a:srgbClr val="22303C"/>
                </a:solidFill>
                <a:latin typeface="Times New Roman" panose="02020603050405020304" pitchFamily="18" charset="0"/>
                <a:ea typeface="Calibri" pitchFamily="34" charset="-122"/>
                <a:cs typeface="Times New Roman" panose="02020603050405020304" pitchFamily="18" charset="0"/>
              </a:rPr>
              <a:t>Both learners beat fixed pricing across the whole ±20% band and track the oracle.</a:t>
            </a:r>
            <a:endParaRPr lang="en-US" sz="1500" dirty="0">
              <a:latin typeface="Times New Roman" panose="02020603050405020304" pitchFamily="18" charset="0"/>
              <a:cs typeface="Times New Roman" panose="02020603050405020304" pitchFamily="18" charset="0"/>
            </a:endParaRPr>
          </a:p>
          <a:p>
            <a:pPr marL="190500" indent="-190500">
              <a:lnSpc>
                <a:spcPct val="105000"/>
              </a:lnSpc>
              <a:spcAft>
                <a:spcPts val="1200"/>
              </a:spcAft>
              <a:buSzPct val="100000"/>
              <a:buChar char="•"/>
            </a:pPr>
            <a:r>
              <a:rPr lang="en-US" sz="1500" dirty="0">
                <a:solidFill>
                  <a:srgbClr val="22303C"/>
                </a:solidFill>
                <a:latin typeface="Times New Roman" panose="02020603050405020304" pitchFamily="18" charset="0"/>
                <a:ea typeface="Calibri" pitchFamily="34" charset="-122"/>
                <a:cs typeface="Times New Roman" panose="02020603050405020304" pitchFamily="18" charset="0"/>
              </a:rPr>
              <a:t>Held-out test: +10.1% train → +10.0% on unseen markets (0.1-pt gap — not overfit).</a:t>
            </a:r>
            <a:endParaRPr lang="en-US" sz="1500" dirty="0">
              <a:latin typeface="Times New Roman" panose="02020603050405020304" pitchFamily="18" charset="0"/>
              <a:cs typeface="Times New Roman" panose="02020603050405020304" pitchFamily="18" charset="0"/>
            </a:endParaRPr>
          </a:p>
          <a:p>
            <a:pPr marL="190500" indent="-190500">
              <a:lnSpc>
                <a:spcPct val="105000"/>
              </a:lnSpc>
              <a:buSzPct val="100000"/>
              <a:buChar char="•"/>
            </a:pPr>
            <a:r>
              <a:rPr lang="en-US" sz="1500" dirty="0">
                <a:solidFill>
                  <a:srgbClr val="1E2761"/>
                </a:solidFill>
                <a:latin typeface="Times New Roman" panose="02020603050405020304" pitchFamily="18" charset="0"/>
                <a:ea typeface="Calibri" pitchFamily="34" charset="-122"/>
                <a:cs typeface="Times New Roman" panose="02020603050405020304" pitchFamily="18" charset="0"/>
              </a:rPr>
              <a:t>The conclusion does not hinge on the exact elasticity value.</a:t>
            </a:r>
            <a:endParaRPr lang="en-US" sz="1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371600" y="4389120"/>
            <a:ext cx="4114800" cy="4114800"/>
          </a:xfrm>
          <a:prstGeom prst="ellipse">
            <a:avLst/>
          </a:prstGeom>
          <a:solidFill>
            <a:srgbClr val="1C7293">
              <a:alpha val="40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731520" y="731520"/>
            <a:ext cx="10058400" cy="822960"/>
          </a:xfrm>
          <a:prstGeom prst="rect">
            <a:avLst/>
          </a:prstGeom>
          <a:noFill/>
          <a:ln/>
        </p:spPr>
        <p:txBody>
          <a:bodyPr wrap="square" rtlCol="0" anchor="ctr"/>
          <a:lstStyle/>
          <a:p>
            <a:pPr marL="0" indent="0">
              <a:buNone/>
            </a:pPr>
            <a:r>
              <a:rPr lang="en-US" sz="3600" b="1" dirty="0">
                <a:solidFill>
                  <a:srgbClr val="FFFFFF"/>
                </a:solidFill>
                <a:latin typeface="Times New Roman" panose="02020603050405020304" pitchFamily="18" charset="0"/>
                <a:ea typeface="Cambria" pitchFamily="34" charset="-122"/>
                <a:cs typeface="Times New Roman" panose="02020603050405020304" pitchFamily="18" charset="0"/>
              </a:rPr>
              <a:t>Conclusion</a:t>
            </a:r>
            <a:endParaRPr lang="en-US" sz="3600" dirty="0">
              <a:latin typeface="Times New Roman" panose="02020603050405020304" pitchFamily="18" charset="0"/>
              <a:cs typeface="Times New Roman" panose="02020603050405020304" pitchFamily="18" charset="0"/>
            </a:endParaRPr>
          </a:p>
        </p:txBody>
      </p:sp>
      <p:sp>
        <p:nvSpPr>
          <p:cNvPr id="4" name="Shape 2"/>
          <p:cNvSpPr/>
          <p:nvPr/>
        </p:nvSpPr>
        <p:spPr>
          <a:xfrm>
            <a:off x="777240" y="1920240"/>
            <a:ext cx="256032" cy="256032"/>
          </a:xfrm>
          <a:prstGeom prst="ellipse">
            <a:avLst/>
          </a:prstGeom>
          <a:solidFill>
            <a:srgbClr val="E8A33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5" name="Text 3"/>
          <p:cNvSpPr/>
          <p:nvPr/>
        </p:nvSpPr>
        <p:spPr>
          <a:xfrm>
            <a:off x="1234440" y="1828800"/>
            <a:ext cx="10058400" cy="384048"/>
          </a:xfrm>
          <a:prstGeom prst="rect">
            <a:avLst/>
          </a:prstGeom>
          <a:noFill/>
          <a:ln/>
        </p:spPr>
        <p:txBody>
          <a:bodyPr wrap="square" rtlCol="0" anchor="ctr"/>
          <a:lstStyle/>
          <a:p>
            <a:pPr marL="0" indent="0">
              <a:buNone/>
            </a:pPr>
            <a:r>
              <a:rPr lang="en-US" sz="1900" b="1" dirty="0">
                <a:solidFill>
                  <a:srgbClr val="FFFFFF"/>
                </a:solidFill>
                <a:latin typeface="Times New Roman" panose="02020603050405020304" pitchFamily="18" charset="0"/>
                <a:ea typeface="Calibri" pitchFamily="34" charset="-122"/>
                <a:cs typeface="Times New Roman" panose="02020603050405020304" pitchFamily="18" charset="0"/>
              </a:rPr>
              <a:t>Endogeneity handled by design</a:t>
            </a:r>
            <a:endParaRPr lang="en-US" sz="1900" dirty="0">
              <a:latin typeface="Times New Roman" panose="02020603050405020304" pitchFamily="18" charset="0"/>
              <a:cs typeface="Times New Roman" panose="02020603050405020304" pitchFamily="18" charset="0"/>
            </a:endParaRPr>
          </a:p>
        </p:txBody>
      </p:sp>
      <p:sp>
        <p:nvSpPr>
          <p:cNvPr id="6" name="Text 4"/>
          <p:cNvSpPr/>
          <p:nvPr/>
        </p:nvSpPr>
        <p:spPr>
          <a:xfrm>
            <a:off x="1234440" y="2240280"/>
            <a:ext cx="10058400" cy="457200"/>
          </a:xfrm>
          <a:prstGeom prst="rect">
            <a:avLst/>
          </a:prstGeom>
          <a:noFill/>
          <a:ln/>
        </p:spPr>
        <p:txBody>
          <a:bodyPr wrap="square" rtlCol="0" anchor="ctr"/>
          <a:lstStyle/>
          <a:p>
            <a:pPr marL="0" indent="0">
              <a:buNone/>
            </a:pPr>
            <a:r>
              <a:rPr lang="en-US" sz="1450" dirty="0">
                <a:solidFill>
                  <a:srgbClr val="CADCFC"/>
                </a:solidFill>
                <a:latin typeface="Times New Roman" panose="02020603050405020304" pitchFamily="18" charset="0"/>
                <a:ea typeface="Calibri" pitchFamily="34" charset="-122"/>
                <a:cs typeface="Times New Roman" panose="02020603050405020304" pitchFamily="18" charset="0"/>
              </a:rPr>
              <a:t>A cited elasticity model turns static data into a valid pricing MDP.</a:t>
            </a:r>
            <a:endParaRPr lang="en-US" sz="1450" dirty="0">
              <a:latin typeface="Times New Roman" panose="02020603050405020304" pitchFamily="18" charset="0"/>
              <a:cs typeface="Times New Roman" panose="02020603050405020304" pitchFamily="18" charset="0"/>
            </a:endParaRPr>
          </a:p>
        </p:txBody>
      </p:sp>
      <p:sp>
        <p:nvSpPr>
          <p:cNvPr id="7" name="Shape 5"/>
          <p:cNvSpPr/>
          <p:nvPr/>
        </p:nvSpPr>
        <p:spPr>
          <a:xfrm>
            <a:off x="777240" y="2971800"/>
            <a:ext cx="256032" cy="256032"/>
          </a:xfrm>
          <a:prstGeom prst="ellipse">
            <a:avLst/>
          </a:prstGeom>
          <a:solidFill>
            <a:srgbClr val="E8A33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8" name="Text 6"/>
          <p:cNvSpPr/>
          <p:nvPr/>
        </p:nvSpPr>
        <p:spPr>
          <a:xfrm>
            <a:off x="1234440" y="2880360"/>
            <a:ext cx="10058400" cy="384048"/>
          </a:xfrm>
          <a:prstGeom prst="rect">
            <a:avLst/>
          </a:prstGeom>
          <a:noFill/>
          <a:ln/>
        </p:spPr>
        <p:txBody>
          <a:bodyPr wrap="square" rtlCol="0" anchor="ctr"/>
          <a:lstStyle/>
          <a:p>
            <a:pPr marL="0" indent="0">
              <a:buNone/>
            </a:pPr>
            <a:r>
              <a:rPr lang="en-US" sz="1900" b="1" dirty="0">
                <a:solidFill>
                  <a:srgbClr val="FFFFFF"/>
                </a:solidFill>
                <a:latin typeface="Times New Roman" panose="02020603050405020304" pitchFamily="18" charset="0"/>
                <a:ea typeface="Calibri" pitchFamily="34" charset="-122"/>
                <a:cs typeface="Times New Roman" panose="02020603050405020304" pitchFamily="18" charset="0"/>
              </a:rPr>
              <a:t>Two methods, one policy</a:t>
            </a:r>
            <a:endParaRPr lang="en-US" sz="1900" dirty="0">
              <a:latin typeface="Times New Roman" panose="02020603050405020304" pitchFamily="18" charset="0"/>
              <a:cs typeface="Times New Roman" panose="02020603050405020304" pitchFamily="18" charset="0"/>
            </a:endParaRPr>
          </a:p>
        </p:txBody>
      </p:sp>
      <p:sp>
        <p:nvSpPr>
          <p:cNvPr id="9" name="Text 7"/>
          <p:cNvSpPr/>
          <p:nvPr/>
        </p:nvSpPr>
        <p:spPr>
          <a:xfrm>
            <a:off x="1234440" y="3291840"/>
            <a:ext cx="10058400" cy="457200"/>
          </a:xfrm>
          <a:prstGeom prst="rect">
            <a:avLst/>
          </a:prstGeom>
          <a:noFill/>
          <a:ln/>
        </p:spPr>
        <p:txBody>
          <a:bodyPr wrap="square" rtlCol="0" anchor="ctr"/>
          <a:lstStyle/>
          <a:p>
            <a:pPr marL="0" indent="0">
              <a:buNone/>
            </a:pPr>
            <a:r>
              <a:rPr lang="en-US" sz="1450" dirty="0">
                <a:solidFill>
                  <a:srgbClr val="CADCFC"/>
                </a:solidFill>
                <a:latin typeface="Times New Roman" panose="02020603050405020304" pitchFamily="18" charset="0"/>
                <a:ea typeface="Calibri" pitchFamily="34" charset="-122"/>
                <a:cs typeface="Times New Roman" panose="02020603050405020304" pitchFamily="18" charset="0"/>
              </a:rPr>
              <a:t>Q-learning and a genetic algorithm both learn a goodwill-aware pulsing strategy.</a:t>
            </a:r>
            <a:endParaRPr lang="en-US" sz="1450" dirty="0">
              <a:latin typeface="Times New Roman" panose="02020603050405020304" pitchFamily="18" charset="0"/>
              <a:cs typeface="Times New Roman" panose="02020603050405020304" pitchFamily="18" charset="0"/>
            </a:endParaRPr>
          </a:p>
        </p:txBody>
      </p:sp>
      <p:sp>
        <p:nvSpPr>
          <p:cNvPr id="10" name="Shape 8"/>
          <p:cNvSpPr/>
          <p:nvPr/>
        </p:nvSpPr>
        <p:spPr>
          <a:xfrm>
            <a:off x="777240" y="4023360"/>
            <a:ext cx="256032" cy="256032"/>
          </a:xfrm>
          <a:prstGeom prst="ellipse">
            <a:avLst/>
          </a:prstGeom>
          <a:solidFill>
            <a:srgbClr val="E8A33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1" name="Text 9"/>
          <p:cNvSpPr/>
          <p:nvPr/>
        </p:nvSpPr>
        <p:spPr>
          <a:xfrm>
            <a:off x="1234440" y="3931920"/>
            <a:ext cx="10058400" cy="384048"/>
          </a:xfrm>
          <a:prstGeom prst="rect">
            <a:avLst/>
          </a:prstGeom>
          <a:noFill/>
          <a:ln/>
        </p:spPr>
        <p:txBody>
          <a:bodyPr wrap="square" rtlCol="0" anchor="ctr"/>
          <a:lstStyle/>
          <a:p>
            <a:pPr marL="0" indent="0">
              <a:buNone/>
            </a:pPr>
            <a:r>
              <a:rPr lang="en-US" sz="1900" b="1" dirty="0">
                <a:solidFill>
                  <a:srgbClr val="FFFFFF"/>
                </a:solidFill>
                <a:latin typeface="Times New Roman" panose="02020603050405020304" pitchFamily="18" charset="0"/>
                <a:ea typeface="Calibri" pitchFamily="34" charset="-122"/>
                <a:cs typeface="Times New Roman" panose="02020603050405020304" pitchFamily="18" charset="0"/>
              </a:rPr>
              <a:t>+9.6% / +10.0% over fixed pricing</a:t>
            </a:r>
            <a:endParaRPr lang="en-US" sz="1900" dirty="0">
              <a:latin typeface="Times New Roman" panose="02020603050405020304" pitchFamily="18" charset="0"/>
              <a:cs typeface="Times New Roman" panose="02020603050405020304" pitchFamily="18" charset="0"/>
            </a:endParaRPr>
          </a:p>
        </p:txBody>
      </p:sp>
      <p:sp>
        <p:nvSpPr>
          <p:cNvPr id="12" name="Text 10"/>
          <p:cNvSpPr/>
          <p:nvPr/>
        </p:nvSpPr>
        <p:spPr>
          <a:xfrm>
            <a:off x="1234440" y="4343400"/>
            <a:ext cx="10058400" cy="457200"/>
          </a:xfrm>
          <a:prstGeom prst="rect">
            <a:avLst/>
          </a:prstGeom>
          <a:noFill/>
          <a:ln/>
        </p:spPr>
        <p:txBody>
          <a:bodyPr wrap="square" rtlCol="0" anchor="ctr"/>
          <a:lstStyle/>
          <a:p>
            <a:pPr marL="0" indent="0">
              <a:buNone/>
            </a:pPr>
            <a:r>
              <a:rPr lang="en-US" sz="1450" dirty="0">
                <a:solidFill>
                  <a:srgbClr val="CADCFC"/>
                </a:solidFill>
                <a:latin typeface="Times New Roman" panose="02020603050405020304" pitchFamily="18" charset="0"/>
                <a:ea typeface="Calibri" pitchFamily="34" charset="-122"/>
                <a:cs typeface="Times New Roman" panose="02020603050405020304" pitchFamily="18" charset="0"/>
              </a:rPr>
              <a:t>Statistically significant, matching a goodwill-aware oracle.</a:t>
            </a:r>
            <a:endParaRPr lang="en-US" sz="1450" dirty="0">
              <a:latin typeface="Times New Roman" panose="02020603050405020304" pitchFamily="18" charset="0"/>
              <a:cs typeface="Times New Roman" panose="02020603050405020304" pitchFamily="18" charset="0"/>
            </a:endParaRPr>
          </a:p>
        </p:txBody>
      </p:sp>
      <p:sp>
        <p:nvSpPr>
          <p:cNvPr id="13" name="Shape 11"/>
          <p:cNvSpPr/>
          <p:nvPr/>
        </p:nvSpPr>
        <p:spPr>
          <a:xfrm>
            <a:off x="777240" y="5074920"/>
            <a:ext cx="256032" cy="256032"/>
          </a:xfrm>
          <a:prstGeom prst="ellipse">
            <a:avLst/>
          </a:prstGeom>
          <a:solidFill>
            <a:srgbClr val="E8A33D"/>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4" name="Text 12"/>
          <p:cNvSpPr/>
          <p:nvPr/>
        </p:nvSpPr>
        <p:spPr>
          <a:xfrm>
            <a:off x="1234440" y="4983480"/>
            <a:ext cx="10058400" cy="384048"/>
          </a:xfrm>
          <a:prstGeom prst="rect">
            <a:avLst/>
          </a:prstGeom>
          <a:noFill/>
          <a:ln/>
        </p:spPr>
        <p:txBody>
          <a:bodyPr wrap="square" rtlCol="0" anchor="ctr"/>
          <a:lstStyle/>
          <a:p>
            <a:pPr marL="0" indent="0">
              <a:buNone/>
            </a:pPr>
            <a:r>
              <a:rPr lang="en-US" sz="1900" b="1" dirty="0">
                <a:solidFill>
                  <a:srgbClr val="FFFFFF"/>
                </a:solidFill>
                <a:latin typeface="Times New Roman" panose="02020603050405020304" pitchFamily="18" charset="0"/>
                <a:ea typeface="Calibri" pitchFamily="34" charset="-122"/>
                <a:cs typeface="Times New Roman" panose="02020603050405020304" pitchFamily="18" charset="0"/>
              </a:rPr>
              <a:t>Robust &amp; general</a:t>
            </a:r>
            <a:endParaRPr lang="en-US" sz="1900" dirty="0">
              <a:latin typeface="Times New Roman" panose="02020603050405020304" pitchFamily="18" charset="0"/>
              <a:cs typeface="Times New Roman" panose="02020603050405020304" pitchFamily="18" charset="0"/>
            </a:endParaRPr>
          </a:p>
        </p:txBody>
      </p:sp>
      <p:sp>
        <p:nvSpPr>
          <p:cNvPr id="15" name="Text 13"/>
          <p:cNvSpPr/>
          <p:nvPr/>
        </p:nvSpPr>
        <p:spPr>
          <a:xfrm>
            <a:off x="1234440" y="5394960"/>
            <a:ext cx="10058400" cy="457200"/>
          </a:xfrm>
          <a:prstGeom prst="rect">
            <a:avLst/>
          </a:prstGeom>
          <a:noFill/>
          <a:ln/>
        </p:spPr>
        <p:txBody>
          <a:bodyPr wrap="square" rtlCol="0" anchor="ctr"/>
          <a:lstStyle/>
          <a:p>
            <a:pPr marL="0" indent="0">
              <a:buNone/>
            </a:pPr>
            <a:r>
              <a:rPr lang="en-US" sz="1450" dirty="0">
                <a:solidFill>
                  <a:srgbClr val="CADCFC"/>
                </a:solidFill>
                <a:latin typeface="Times New Roman" panose="02020603050405020304" pitchFamily="18" charset="0"/>
                <a:ea typeface="Calibri" pitchFamily="34" charset="-122"/>
                <a:cs typeface="Times New Roman" panose="02020603050405020304" pitchFamily="18" charset="0"/>
              </a:rPr>
              <a:t>Holds under ±20% elasticity error and on unseen markets.</a:t>
            </a:r>
            <a:endParaRPr lang="en-US" sz="1450" dirty="0">
              <a:latin typeface="Times New Roman" panose="02020603050405020304" pitchFamily="18" charset="0"/>
              <a:cs typeface="Times New Roman" panose="02020603050405020304" pitchFamily="18" charset="0"/>
            </a:endParaRPr>
          </a:p>
        </p:txBody>
      </p:sp>
      <p:sp>
        <p:nvSpPr>
          <p:cNvPr id="16" name="Text 14"/>
          <p:cNvSpPr/>
          <p:nvPr/>
        </p:nvSpPr>
        <p:spPr>
          <a:xfrm>
            <a:off x="731520" y="6172200"/>
            <a:ext cx="10058400" cy="457200"/>
          </a:xfrm>
          <a:prstGeom prst="rect">
            <a:avLst/>
          </a:prstGeom>
          <a:noFill/>
          <a:ln/>
        </p:spPr>
        <p:txBody>
          <a:bodyPr wrap="square" rtlCol="0" anchor="ctr"/>
          <a:lstStyle/>
          <a:p>
            <a:pPr marL="0" indent="0">
              <a:buNone/>
            </a:pPr>
            <a:r>
              <a:rPr lang="en-US" sz="2000" i="1" dirty="0">
                <a:solidFill>
                  <a:srgbClr val="E8A33D"/>
                </a:solidFill>
                <a:latin typeface="Times New Roman" panose="02020603050405020304" pitchFamily="18" charset="0"/>
                <a:ea typeface="Cambria" pitchFamily="34" charset="-122"/>
                <a:cs typeface="Times New Roman" panose="02020603050405020304" pitchFamily="18" charset="0"/>
              </a:rPr>
              <a:t>Thank you</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1313</Words>
  <Application>Microsoft Office PowerPoint</Application>
  <PresentationFormat>Widescreen</PresentationFormat>
  <Paragraphs>112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prasanth oddepally</dc:creator>
  <cp:lastModifiedBy>prashanth oddepally</cp:lastModifiedBy>
  <cp:revision>2</cp:revision>
  <dcterms:created xsi:type="dcterms:W3CDTF">2026-07-25T21:00:41Z</dcterms:created>
  <dcterms:modified xsi:type="dcterms:W3CDTF">2026-07-25T21:11:43Z</dcterms:modified>
</cp:coreProperties>
</file>